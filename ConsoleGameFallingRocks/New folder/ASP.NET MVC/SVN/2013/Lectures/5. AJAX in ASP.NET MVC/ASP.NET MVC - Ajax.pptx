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6"/>
  </p:notesMasterIdLst>
  <p:handoutMasterIdLst>
    <p:handoutMasterId r:id="rId37"/>
  </p:handoutMasterIdLst>
  <p:sldIdLst>
    <p:sldId id="338" r:id="rId2"/>
    <p:sldId id="335" r:id="rId3"/>
    <p:sldId id="364" r:id="rId4"/>
    <p:sldId id="350" r:id="rId5"/>
    <p:sldId id="360" r:id="rId6"/>
    <p:sldId id="361" r:id="rId7"/>
    <p:sldId id="362" r:id="rId8"/>
    <p:sldId id="421" r:id="rId9"/>
    <p:sldId id="422" r:id="rId10"/>
    <p:sldId id="423" r:id="rId11"/>
    <p:sldId id="377" r:id="rId12"/>
    <p:sldId id="349" r:id="rId13"/>
    <p:sldId id="424" r:id="rId14"/>
    <p:sldId id="425" r:id="rId15"/>
    <p:sldId id="426" r:id="rId16"/>
    <p:sldId id="376" r:id="rId17"/>
    <p:sldId id="427" r:id="rId18"/>
    <p:sldId id="356" r:id="rId19"/>
    <p:sldId id="428" r:id="rId20"/>
    <p:sldId id="354" r:id="rId21"/>
    <p:sldId id="415" r:id="rId22"/>
    <p:sldId id="381" r:id="rId23"/>
    <p:sldId id="382" r:id="rId24"/>
    <p:sldId id="379" r:id="rId25"/>
    <p:sldId id="366" r:id="rId26"/>
    <p:sldId id="358" r:id="rId27"/>
    <p:sldId id="345" r:id="rId28"/>
    <p:sldId id="429" r:id="rId29"/>
    <p:sldId id="365" r:id="rId30"/>
    <p:sldId id="430" r:id="rId31"/>
    <p:sldId id="394" r:id="rId32"/>
    <p:sldId id="334" r:id="rId33"/>
    <p:sldId id="431" r:id="rId34"/>
    <p:sldId id="403" r:id="rId35"/>
  </p:sldIdLst>
  <p:sldSz cx="9144000" cy="6858000" type="screen4x3"/>
  <p:notesSz cx="6881813" cy="9296400"/>
  <p:custDataLst>
    <p:tags r:id="rId38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5pPr>
    <a:lvl6pPr marL="2286000" algn="l" defTabSz="914400" rtl="0" eaLnBrk="1" latinLnBrk="0" hangingPunct="1"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6pPr>
    <a:lvl7pPr marL="2743200" algn="l" defTabSz="914400" rtl="0" eaLnBrk="1" latinLnBrk="0" hangingPunct="1"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7pPr>
    <a:lvl8pPr marL="3200400" algn="l" defTabSz="914400" rtl="0" eaLnBrk="1" latinLnBrk="0" hangingPunct="1"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8pPr>
    <a:lvl9pPr marL="3657600" algn="l" defTabSz="914400" rtl="0" eaLnBrk="1" latinLnBrk="0" hangingPunct="1">
      <a:defRPr sz="2500" kern="1200">
        <a:solidFill>
          <a:srgbClr val="EBFFC2"/>
        </a:solidFill>
        <a:latin typeface="Corbe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16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CD8"/>
    <a:srgbClr val="FFFFFF"/>
    <a:srgbClr val="9BCC00"/>
    <a:srgbClr val="9ED000"/>
    <a:srgbClr val="E8FFC8"/>
    <a:srgbClr val="FAF7C8"/>
    <a:srgbClr val="FAF8C8"/>
    <a:srgbClr val="F5FFC2"/>
    <a:srgbClr val="EBFFD2"/>
    <a:srgbClr val="EBFF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00" autoAdjust="0"/>
    <p:restoredTop sz="94468" autoAdjust="0"/>
  </p:normalViewPr>
  <p:slideViewPr>
    <p:cSldViewPr>
      <p:cViewPr varScale="1">
        <p:scale>
          <a:sx n="106" d="100"/>
          <a:sy n="106" d="100"/>
        </p:scale>
        <p:origin x="1032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-2778" y="-96"/>
      </p:cViewPr>
      <p:guideLst>
        <p:guide orient="horz" pos="2928"/>
        <p:guide pos="216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 bwMode="auto">
          <a:xfrm>
            <a:off x="3897313" y="0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fld id="{3BF7C7B5-275F-4D1F-9AB4-9255447DBC73}" type="datetimeFigureOut">
              <a:rPr lang="en-US"/>
              <a:pPr/>
              <a:t>9/21/2013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 bwMode="auto">
          <a:xfrm>
            <a:off x="0" y="8829675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b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 bwMode="auto">
          <a:xfrm>
            <a:off x="3897313" y="8829675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fld id="{3DADE544-1278-4EDA-8870-0A169B9A6D6D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2406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97313" y="0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fld id="{9B46F231-FB2B-4655-A644-E2477325E686}" type="datetimeFigureOut">
              <a:rPr lang="en-US"/>
              <a:pPr/>
              <a:t>9/21/2013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76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7388" y="4416425"/>
            <a:ext cx="5507037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829675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b" anchorCtr="0" compatLnSpc="1">
            <a:prstTxWarp prst="textNoShape">
              <a:avLst/>
            </a:prstTxWarp>
          </a:bodyPr>
          <a:lstStyle>
            <a:lvl1pPr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97313" y="8829675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436" tIns="46219" rIns="92436" bIns="46219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solidFill>
                  <a:schemeClr val="tx1"/>
                </a:solidFill>
                <a:latin typeface="Calibri" pitchFamily="34" charset="0"/>
              </a:defRPr>
            </a:lvl1pPr>
          </a:lstStyle>
          <a:p>
            <a:fld id="{6FB4F6EA-423E-42DF-9292-215E7D886C4E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520194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hyperlink" Target="http://mvccourse.telerik.com/" TargetMode="External"/><Relationship Id="rId13" Type="http://schemas.openxmlformats.org/officeDocument/2006/relationships/hyperlink" Target="http://algoacademy.telerik.com/" TargetMode="External"/><Relationship Id="rId18" Type="http://schemas.openxmlformats.org/officeDocument/2006/relationships/hyperlink" Target="http://www.minkov.it/" TargetMode="External"/><Relationship Id="rId3" Type="http://schemas.openxmlformats.org/officeDocument/2006/relationships/hyperlink" Target="http://kursove-uroci-knigi-obuchenie-programirane-web-design-csharp.info/" TargetMode="External"/><Relationship Id="rId7" Type="http://schemas.openxmlformats.org/officeDocument/2006/relationships/hyperlink" Target="http://schoolacademy.telerik.com/" TargetMode="External"/><Relationship Id="rId12" Type="http://schemas.openxmlformats.org/officeDocument/2006/relationships/hyperlink" Target="http://codecourse.telerik.com/" TargetMode="External"/><Relationship Id="rId17" Type="http://schemas.openxmlformats.org/officeDocument/2006/relationships/hyperlink" Target="http://www.introprogramming.info/" TargetMode="External"/><Relationship Id="rId2" Type="http://schemas.openxmlformats.org/officeDocument/2006/relationships/hyperlink" Target="http://forums.academy.telerik.com/" TargetMode="External"/><Relationship Id="rId16" Type="http://schemas.openxmlformats.org/officeDocument/2006/relationships/hyperlink" Target="http://mobiledevcourse.telerik.com/" TargetMode="External"/><Relationship Id="rId20" Type="http://schemas.openxmlformats.org/officeDocument/2006/relationships/hyperlink" Target="http://csharpfundamentals.telerik.com/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html5course.telerik.com/" TargetMode="External"/><Relationship Id="rId11" Type="http://schemas.openxmlformats.org/officeDocument/2006/relationships/hyperlink" Target="http://www.nakov.com/" TargetMode="External"/><Relationship Id="rId5" Type="http://schemas.openxmlformats.org/officeDocument/2006/relationships/hyperlink" Target="http://seocourse.telerik.com/" TargetMode="External"/><Relationship Id="rId15" Type="http://schemas.openxmlformats.org/officeDocument/2006/relationships/hyperlink" Target="http://academy.telerik.com/" TargetMode="External"/><Relationship Id="rId10" Type="http://schemas.openxmlformats.org/officeDocument/2006/relationships/hyperlink" Target="http://www.bgcoder.com/" TargetMode="External"/><Relationship Id="rId19" Type="http://schemas.openxmlformats.org/officeDocument/2006/relationships/hyperlink" Target="http://www.nikolay.it/" TargetMode="External"/><Relationship Id="rId4" Type="http://schemas.openxmlformats.org/officeDocument/2006/relationships/hyperlink" Target="http://www.telerik-kids.com/" TargetMode="External"/><Relationship Id="rId9" Type="http://schemas.openxmlformats.org/officeDocument/2006/relationships/hyperlink" Target="http://clouddevcourse.telerik.com/" TargetMode="External"/><Relationship Id="rId14" Type="http://schemas.openxmlformats.org/officeDocument/2006/relationships/hyperlink" Target="http://aspnetcourse.telerik.com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8"/>
          <p:cNvSpPr>
            <a:spLocks noGrp="1"/>
          </p:cNvSpPr>
          <p:nvPr>
            <p:ph type="ctrTitle" hasCustomPrompt="1"/>
          </p:nvPr>
        </p:nvSpPr>
        <p:spPr>
          <a:xfrm>
            <a:off x="457200" y="1524000"/>
            <a:ext cx="8229600" cy="1524000"/>
          </a:xfrm>
          <a:prstGeom prst="rect">
            <a:avLst/>
          </a:prstGeom>
        </p:spPr>
        <p:txBody>
          <a:bodyPr tIns="0" bIns="0" anchor="b" anchorCtr="0"/>
          <a:lstStyle>
            <a:lvl1pPr algn="r">
              <a:lnSpc>
                <a:spcPts val="5600"/>
              </a:lnSpc>
              <a:defRPr sz="5400" cap="none" baseline="0">
                <a:solidFill>
                  <a:srgbClr val="D4FF5B"/>
                </a:solidFill>
                <a:effectLst>
                  <a:outerShdw blurRad="30000" dist="30000" dir="2700000" algn="tl" rotWithShape="0">
                    <a:schemeClr val="bg2">
                      <a:shade val="45000"/>
                      <a:satMod val="150000"/>
                      <a:alpha val="90000"/>
                    </a:schemeClr>
                  </a:outerShdw>
                  <a:reflection blurRad="120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Presentation Title</a:t>
            </a:r>
            <a:endParaRPr lang="en-US" dirty="0"/>
          </a:p>
        </p:txBody>
      </p:sp>
      <p:sp>
        <p:nvSpPr>
          <p:cNvPr id="7" name="Subtitle 16"/>
          <p:cNvSpPr>
            <a:spLocks noGrp="1"/>
          </p:cNvSpPr>
          <p:nvPr>
            <p:ph type="subTitle" idx="1" hasCustomPrompt="1"/>
          </p:nvPr>
        </p:nvSpPr>
        <p:spPr>
          <a:xfrm>
            <a:off x="457200" y="3240880"/>
            <a:ext cx="8229600" cy="569120"/>
          </a:xfrm>
          <a:prstGeom prst="rect">
            <a:avLst/>
          </a:prstGeom>
        </p:spPr>
        <p:txBody>
          <a:bodyPr lIns="90000" tIns="0" rIns="90000" bIns="0" anchor="ctr" anchorCtr="0"/>
          <a:lstStyle>
            <a:lvl1pPr marL="0" indent="0" algn="r">
              <a:buNone/>
              <a:defRPr sz="2800">
                <a:solidFill>
                  <a:srgbClr val="FAF8C8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 smtClean="0"/>
              <a:t>Presentation Subtitle</a:t>
            </a:r>
            <a:endParaRPr lang="en-US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2667000" y="4114800"/>
            <a:ext cx="6248400" cy="0"/>
          </a:xfrm>
          <a:prstGeom prst="line">
            <a:avLst/>
          </a:prstGeom>
          <a:ln w="38100" cap="rnd">
            <a:solidFill>
              <a:schemeClr val="accent5">
                <a:lumMod val="20000"/>
                <a:lumOff val="80000"/>
                <a:alpha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44500" y="4572000"/>
            <a:ext cx="3352800" cy="533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2800" b="1" kern="1200" dirty="0" smtClean="0">
                <a:solidFill>
                  <a:srgbClr val="DEFF9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Author Name</a:t>
            </a:r>
            <a:endParaRPr lang="en-US" dirty="0"/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5833646"/>
            <a:ext cx="335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1800" b="1" kern="1200" dirty="0"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marL="319088" lvl="0" indent="-319088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1800" b="1" dirty="0" smtClean="0">
                <a:solidFill>
                  <a:srgbClr val="0EFE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Company Name</a:t>
            </a:r>
            <a:endParaRPr lang="en-US" sz="1800" b="1" dirty="0">
              <a:solidFill>
                <a:srgbClr val="0EFE5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6138446"/>
            <a:ext cx="3352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1600" b="1" kern="1200" dirty="0" smtClean="0">
                <a:solidFill>
                  <a:srgbClr val="0EFE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algn="l"/>
            <a:r>
              <a:rPr lang="en-US" sz="1600" b="1" dirty="0" smtClean="0"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Company Web Site</a:t>
            </a:r>
            <a:endParaRPr lang="en-US" sz="1600" b="1" dirty="0"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5029200"/>
            <a:ext cx="335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2300" b="1" kern="1200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Position</a:t>
            </a:r>
            <a:endParaRPr lang="en-US" dirty="0"/>
          </a:p>
        </p:txBody>
      </p:sp>
      <p:sp>
        <p:nvSpPr>
          <p:cNvPr id="9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5405735"/>
            <a:ext cx="3352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rbel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 smtClean="0"/>
              <a:t>Web Site</a:t>
            </a:r>
            <a:endParaRPr lang="en-US" dirty="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4267200" y="4572000"/>
            <a:ext cx="4419600" cy="1905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 smtClean="0"/>
              <a:t>Insert a Picture Here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76200"/>
            <a:ext cx="7086600" cy="8382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r" rtl="0" eaLnBrk="0" fontAlgn="base" hangingPunct="0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lang="en-US" sz="4000" b="1" kern="1200" baseline="0" dirty="0">
                <a:ln w="500"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28600" y="914400"/>
            <a:ext cx="8686800" cy="5791200"/>
          </a:xfrm>
          <a:prstGeom prst="rect">
            <a:avLst/>
          </a:prstGeom>
        </p:spPr>
        <p:txBody>
          <a:bodyPr/>
          <a:lstStyle>
            <a:lvl1pPr marL="282575" indent="-2825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5">
                  <a:lumMod val="40000"/>
                  <a:lumOff val="60000"/>
                </a:schemeClr>
              </a:buClr>
              <a:tabLst>
                <a:tab pos="282575" algn="l"/>
              </a:tabLst>
              <a:defRPr sz="3200">
                <a:solidFill>
                  <a:srgbClr val="EBFFD2"/>
                </a:solidFill>
              </a:defRPr>
            </a:lvl1pPr>
            <a:lvl2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defRPr sz="3000">
                <a:solidFill>
                  <a:schemeClr val="tx1">
                    <a:lumMod val="40000"/>
                    <a:lumOff val="60000"/>
                  </a:schemeClr>
                </a:solidFill>
              </a:defRPr>
            </a:lvl2pPr>
            <a:lvl3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defRPr sz="2800">
                <a:solidFill>
                  <a:srgbClr val="F5FFC2"/>
                </a:solidFill>
              </a:defRPr>
            </a:lvl3pPr>
            <a:lvl4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defRPr sz="2600">
                <a:solidFill>
                  <a:schemeClr val="tx1">
                    <a:lumMod val="40000"/>
                    <a:lumOff val="60000"/>
                  </a:schemeClr>
                </a:solidFill>
              </a:defRPr>
            </a:lvl4pPr>
            <a:lvl5pPr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defRPr sz="2400">
                <a:solidFill>
                  <a:schemeClr val="tx1">
                    <a:lumMod val="40000"/>
                    <a:lumOff val="60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First Level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610600" y="6553200"/>
            <a:ext cx="457200" cy="228600"/>
          </a:xfrm>
          <a:prstGeom prst="rect">
            <a:avLst/>
          </a:prstGeom>
        </p:spPr>
        <p:txBody>
          <a:bodyPr anchor="ctr" anchorCtr="0"/>
          <a:lstStyle>
            <a:lvl1pPr algn="r">
              <a:defRPr sz="1100"/>
            </a:lvl1pPr>
          </a:lstStyle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76200"/>
            <a:ext cx="7086600" cy="8382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ts val="4000"/>
              </a:lnSpc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Slide Title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 hasCustomPrompt="1"/>
          </p:nvPr>
        </p:nvSpPr>
        <p:spPr>
          <a:xfrm>
            <a:off x="228600" y="990600"/>
            <a:ext cx="8686800" cy="579646"/>
          </a:xfrm>
          <a:prstGeom prst="rect">
            <a:avLst/>
          </a:prstGeom>
        </p:spPr>
        <p:txBody>
          <a:bodyPr>
            <a:spAutoFit/>
          </a:bodyPr>
          <a:lstStyle>
            <a:lvl1pPr marL="319088" marR="0" indent="-3190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buFont typeface="Wingdings 2" pitchFamily="18" charset="2"/>
              <a:buChar char=""/>
              <a:tabLst/>
              <a:defRPr sz="3000" baseline="0"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  <a:lvl2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8FD600"/>
              </a:buClr>
              <a:defRPr sz="3000">
                <a:solidFill>
                  <a:schemeClr val="tx1">
                    <a:lumMod val="40000"/>
                    <a:lumOff val="60000"/>
                  </a:schemeClr>
                </a:solidFill>
              </a:defRPr>
            </a:lvl2pPr>
            <a:lvl3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FAD9F"/>
              </a:buClr>
              <a:defRPr sz="2800">
                <a:solidFill>
                  <a:schemeClr val="tx1">
                    <a:lumMod val="40000"/>
                    <a:lumOff val="60000"/>
                  </a:schemeClr>
                </a:solidFill>
              </a:defRPr>
            </a:lvl3pPr>
            <a:lvl4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buClr>
                <a:srgbClr val="FACF82"/>
              </a:buClr>
              <a:defRPr sz="2600">
                <a:solidFill>
                  <a:schemeClr val="tx1">
                    <a:lumMod val="40000"/>
                    <a:lumOff val="60000"/>
                  </a:schemeClr>
                </a:solidFill>
              </a:defRPr>
            </a:lvl4pPr>
            <a:lvl5pPr>
              <a:lnSpc>
                <a:spcPts val="3800"/>
              </a:lnSpc>
              <a:spcBef>
                <a:spcPts val="600"/>
              </a:spcBef>
              <a:spcAft>
                <a:spcPts val="600"/>
              </a:spcAft>
              <a:defRPr sz="2400">
                <a:solidFill>
                  <a:schemeClr val="tx1">
                    <a:lumMod val="40000"/>
                    <a:lumOff val="60000"/>
                  </a:schemeClr>
                </a:solidFill>
              </a:defRPr>
            </a:lvl5pPr>
          </a:lstStyle>
          <a:p>
            <a:pPr marL="319088" marR="0" lvl="0" indent="-319088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6A6BD">
                  <a:lumMod val="40000"/>
                  <a:lumOff val="60000"/>
                </a:srgbClr>
              </a:buClr>
              <a:buSzPct val="70000"/>
              <a:buFont typeface="Wingdings 2" pitchFamily="18" charset="2"/>
              <a:buChar char=""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CCFF66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First Level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533400" y="1752600"/>
            <a:ext cx="8077200" cy="4708981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lang="en-US" sz="2000" smtClean="0">
                <a:solidFill>
                  <a:srgbClr val="8CF4F2"/>
                </a:solidFill>
                <a:latin typeface="Consolas" pitchFamily="49" charset="0"/>
                <a:cs typeface="Consolas" pitchFamily="49" charset="0"/>
              </a:defRPr>
            </a:lvl1pPr>
          </a:lstStyle>
          <a:p>
            <a:pPr lvl="0"/>
            <a:r>
              <a:rPr lang="en-US" noProof="1" smtClean="0"/>
              <a:t>Enter source code here</a:t>
            </a:r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  <a:p>
            <a:pPr lvl="0"/>
            <a:endParaRPr lang="en-US" noProof="1" smtClean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610600" y="6553200"/>
            <a:ext cx="457200" cy="228600"/>
          </a:xfrm>
          <a:prstGeom prst="rect">
            <a:avLst/>
          </a:prstGeom>
        </p:spPr>
        <p:txBody>
          <a:bodyPr anchor="ctr" anchorCtr="0"/>
          <a:lstStyle>
            <a:lvl1pPr algn="r">
              <a:defRPr sz="1100"/>
            </a:lvl1pPr>
          </a:lstStyle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685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 hasCustomPrompt="1"/>
          </p:nvPr>
        </p:nvSpPr>
        <p:spPr>
          <a:xfrm>
            <a:off x="609600" y="2743201"/>
            <a:ext cx="7924800" cy="685800"/>
          </a:xfrm>
          <a:prstGeom prst="rect">
            <a:avLst/>
          </a:prstGeom>
        </p:spPr>
        <p:txBody>
          <a:bodyPr tIns="0" bIns="0" anchor="ctr" anchorCtr="0"/>
          <a:lstStyle>
            <a:lvl1pPr algn="ctr">
              <a:lnSpc>
                <a:spcPts val="5600"/>
              </a:lnSpc>
              <a:defRPr sz="5000" cap="none" baseline="0">
                <a:effectLst>
                  <a:outerShdw blurRad="30000" dist="30000" dir="2700000" algn="tl" rotWithShape="0">
                    <a:schemeClr val="bg2">
                      <a:shade val="45000"/>
                      <a:satMod val="150000"/>
                      <a:alpha val="90000"/>
                    </a:schemeClr>
                  </a:outerShdw>
                  <a:reflection blurRad="12000" stA="20000" endPos="50000" dist="12700" dir="5400000" sy="-100000" algn="bl" rotWithShape="0"/>
                </a:effectLst>
              </a:defRPr>
            </a:lvl1pPr>
          </a:lstStyle>
          <a:p>
            <a:r>
              <a:rPr lang="en-US" dirty="0" smtClean="0"/>
              <a:t>Section Title</a:t>
            </a:r>
            <a:endParaRPr lang="en-US" dirty="0"/>
          </a:p>
        </p:txBody>
      </p:sp>
      <p:sp>
        <p:nvSpPr>
          <p:cNvPr id="17" name="Subtitle 16"/>
          <p:cNvSpPr>
            <a:spLocks noGrp="1"/>
          </p:cNvSpPr>
          <p:nvPr>
            <p:ph type="subTitle" idx="1" hasCustomPrompt="1"/>
          </p:nvPr>
        </p:nvSpPr>
        <p:spPr>
          <a:xfrm>
            <a:off x="609600" y="3469480"/>
            <a:ext cx="7924800" cy="56912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800" b="1" kern="1200" baseline="0" dirty="0">
                <a:solidFill>
                  <a:srgbClr val="FAF7C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 smtClean="0"/>
              <a:t>Section Subtitle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/>
          <p:cNvGrpSpPr/>
          <p:nvPr userDrawn="1"/>
        </p:nvGrpSpPr>
        <p:grpSpPr>
          <a:xfrm>
            <a:off x="130434" y="6373882"/>
            <a:ext cx="1816798" cy="331718"/>
            <a:chOff x="1236228" y="1523999"/>
            <a:chExt cx="4351212" cy="3261410"/>
          </a:xfrm>
          <a:noFill/>
        </p:grpSpPr>
        <p:sp>
          <p:nvSpPr>
            <p:cNvPr id="31" name="TextBox 30">
              <a:hlinkClick r:id="rId2" tooltip="Форум за програмиране и уеб дизайн - дискусии, съвети, въпроси и отговори @ Софтуерна академия на Телерик"/>
            </p:cNvPr>
            <p:cNvSpPr txBox="1"/>
            <p:nvPr userDrawn="1"/>
          </p:nvSpPr>
          <p:spPr>
            <a:xfrm flipH="1">
              <a:off x="3394420" y="1733044"/>
              <a:ext cx="1528760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форум програмиране, форум уеб дизайн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2" name="TextBox 31">
              <a:hlinkClick r:id="rId3" tooltip="Курсове и уроци по програмиране, уеб дизайн, разработка на софтуер и информационни технологии - лекции, видео уроци, обучения - безплатно"/>
            </p:cNvPr>
            <p:cNvSpPr txBox="1"/>
            <p:nvPr userDrawn="1"/>
          </p:nvSpPr>
          <p:spPr>
            <a:xfrm flipH="1">
              <a:off x="1350512" y="1528531"/>
              <a:ext cx="2008656" cy="1149887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>
                <a:lnSpc>
                  <a:spcPct val="80000"/>
                </a:lnSpc>
              </a:pPr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курсове и уроци по програмиране, уеб дизайн – безплатно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3" name="TextBox 32">
              <a:hlinkClick r:id="rId4" tooltip="Програмиране за деца - безплатно в Телерик кидс академия"/>
            </p:cNvPr>
            <p:cNvSpPr txBox="1"/>
            <p:nvPr userDrawn="1"/>
          </p:nvSpPr>
          <p:spPr>
            <a:xfrm flipH="1">
              <a:off x="1538277" y="2175145"/>
              <a:ext cx="1816697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програмиране за деца – безплатни курсове и уроци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4" name="TextBox 33">
              <a:hlinkClick r:id="rId5" tooltip="Безплатен SEO курс - оптимизация за търсачки, уроци по SEO"/>
            </p:cNvPr>
            <p:cNvSpPr txBox="1"/>
            <p:nvPr userDrawn="1"/>
          </p:nvSpPr>
          <p:spPr>
            <a:xfrm flipH="1">
              <a:off x="1660733" y="2421354"/>
              <a:ext cx="1697683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 algn="l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безплатен SEO курс - оптимизация за търсачки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5" name="TextBox 34">
              <a:hlinkClick r:id="rId6" tooltip="Безплатен курс &quot;Уеб дизайн с HTML, CSS и JavaScript&quot; - уроци по правене на уеб сайтове, HTML, CSS, Photoshop, JavaScript и CMS системи"/>
            </p:cNvPr>
            <p:cNvSpPr txBox="1"/>
            <p:nvPr userDrawn="1"/>
          </p:nvSpPr>
          <p:spPr>
            <a:xfrm flipH="1">
              <a:off x="1448482" y="2878556"/>
              <a:ext cx="1908837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уроци по уеб дизайн, HTML, CSS, JavaScript, Photoshop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6" name="TextBox 35">
              <a:hlinkClick r:id="rId7" tooltip="Училищна софтуерна академия - безплатни уроци по програмиране и уеб дизайн"/>
            </p:cNvPr>
            <p:cNvSpPr txBox="1"/>
            <p:nvPr userDrawn="1"/>
          </p:nvSpPr>
          <p:spPr>
            <a:xfrm flipH="1">
              <a:off x="1636239" y="1946534"/>
              <a:ext cx="1747592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l"/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уроци по програмиране и уеб дизайн за ученици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7" name="TextBox 36">
              <a:hlinkClick r:id="rId8" tooltip="Безплатен курс &quot;Програмиране с ASP.NET MVC&quot; - уеб технологии, бази данни, C#, .NET, ASP.NET MVC"/>
            </p:cNvPr>
            <p:cNvSpPr txBox="1"/>
            <p:nvPr userDrawn="1"/>
          </p:nvSpPr>
          <p:spPr>
            <a:xfrm flipH="1">
              <a:off x="3402824" y="2230065"/>
              <a:ext cx="1939551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ASP.NET MVC курс – HTML, SQL, C#, .NET, ASP.NET MVC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38" name="TextBox 37">
              <a:hlinkClick r:id="rId9" tooltip="Безплатен курс &quot;Разработка на софтуер в Cloud среда&quot; - AppEngine, AWS, Azure"/>
            </p:cNvPr>
            <p:cNvSpPr txBox="1"/>
            <p:nvPr userDrawn="1"/>
          </p:nvSpPr>
          <p:spPr>
            <a:xfrm flipH="1">
              <a:off x="1440310" y="3574997"/>
              <a:ext cx="1881966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безплатен курс "Разработка на софтуер в cloud среда"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39" name="TextBox 38">
              <a:hlinkClick r:id="rId10" tooltip="BG Coder - онлайн състезателна система - тренировки за състезания по програмиране - online judge"/>
            </p:cNvPr>
            <p:cNvSpPr txBox="1"/>
            <p:nvPr userDrawn="1"/>
          </p:nvSpPr>
          <p:spPr>
            <a:xfrm flipH="1">
              <a:off x="3389110" y="1523999"/>
              <a:ext cx="1874287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BG Coder - онлайн състезателна система - online judge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0" name="TextBox 39">
              <a:hlinkClick r:id="rId11" tooltip="Светлин Наков - курсове и уроци по програмиране, уеб дизайн, книги, обучения - безплатно"/>
            </p:cNvPr>
            <p:cNvSpPr txBox="1"/>
            <p:nvPr userDrawn="1"/>
          </p:nvSpPr>
          <p:spPr>
            <a:xfrm flipH="1">
              <a:off x="1236228" y="2649965"/>
              <a:ext cx="2123831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курсове и уроци по програмиране, книги – безплатно от Наков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1" name="TextBox 40">
              <a:hlinkClick r:id="rId12" tooltip="Безплатен курс &quot;Качествен програмен код&quot;"/>
            </p:cNvPr>
            <p:cNvSpPr txBox="1"/>
            <p:nvPr userDrawn="1"/>
          </p:nvSpPr>
          <p:spPr>
            <a:xfrm flipH="1">
              <a:off x="1766855" y="3335748"/>
              <a:ext cx="1594026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безплатен курс "Качествен програмен код"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42" name="TextBox 41">
              <a:hlinkClick r:id="rId13" tooltip="Алго академия - Академия по алгоритмично програмиране - безплатни уроци по алгоритми и структури от данни, състезателно програмиране и състезания"/>
            </p:cNvPr>
            <p:cNvSpPr txBox="1"/>
            <p:nvPr userDrawn="1"/>
          </p:nvSpPr>
          <p:spPr>
            <a:xfrm flipH="1">
              <a:off x="3407676" y="2461282"/>
              <a:ext cx="1977943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алго академия – състезателно програмиране, състезания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3" name="TextBox 42">
              <a:hlinkClick r:id="rId14" tooltip="Безплатен ASP.NET курс - уеб програмиране, бази данни, C#, .NET, ASP.NET"/>
            </p:cNvPr>
            <p:cNvSpPr txBox="1"/>
            <p:nvPr userDrawn="1"/>
          </p:nvSpPr>
          <p:spPr>
            <a:xfrm flipH="1">
              <a:off x="3406019" y="1985429"/>
              <a:ext cx="2181421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ASP.NET курс - уеб програмиране, бази данни, C#, .NET, ASP.NET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4" name="TextBox 43">
              <a:hlinkClick r:id="rId15" tooltip="Софтуерна академия на Телерик - безплатни курсове и уроци по програмиране"/>
            </p:cNvPr>
            <p:cNvSpPr txBox="1"/>
            <p:nvPr userDrawn="1"/>
          </p:nvSpPr>
          <p:spPr>
            <a:xfrm flipH="1">
              <a:off x="1504800" y="1717933"/>
              <a:ext cx="1901159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200"/>
              </a:lvl1pPr>
            </a:lstStyle>
            <a:p>
              <a:pPr lvl="0" algn="l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курсове и уроци по </a:t>
              </a:r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програмиране – Телерик академия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45" name="TextBox 44">
              <a:hlinkClick r:id="rId16" tooltip="Безплатен курс &quot;Разработка на мобилни приложения&quot; - iPhone, Android, Windows Phone, PhoneGap, HTML5, jQuery, AJAX"/>
            </p:cNvPr>
            <p:cNvSpPr txBox="1"/>
            <p:nvPr userDrawn="1"/>
          </p:nvSpPr>
          <p:spPr>
            <a:xfrm flipH="1">
              <a:off x="3404043" y="2718405"/>
              <a:ext cx="2058568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lvl="0">
                <a:defRPr sz="1200"/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курс мобилни приложения с iPhone, Android, WP7, PhoneGap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46" name="TextBox 45">
              <a:hlinkClick r:id="rId17" tooltip="Free C# Programming Book by Svetlin Nakov - безплатна C# книга от Светлин Наков, книга C#, книга Java, безплатна книга"/>
            </p:cNvPr>
            <p:cNvSpPr txBox="1"/>
            <p:nvPr userDrawn="1"/>
          </p:nvSpPr>
          <p:spPr>
            <a:xfrm flipH="1">
              <a:off x="1440317" y="3117785"/>
              <a:ext cx="1901159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free C# book, безплатна книга C#, книга Java, книга C#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47" name="TextBox 46">
              <a:hlinkClick r:id="rId18" tooltip="Дончо Минков - сайт за програмиране"/>
            </p:cNvPr>
            <p:cNvSpPr txBox="1"/>
            <p:nvPr userDrawn="1"/>
          </p:nvSpPr>
          <p:spPr>
            <a:xfrm flipH="1">
              <a:off x="3401370" y="2963513"/>
              <a:ext cx="1475012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600">
                  <a:ln w="0">
                    <a:solidFill>
                      <a:schemeClr val="tx1"/>
                    </a:solidFill>
                  </a:ln>
                  <a:effectLst/>
                </a:defRPr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</a:rPr>
                <a:t>Дончо Минков - сайт за програмиране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</a:endParaRPr>
            </a:p>
          </p:txBody>
        </p:sp>
        <p:sp>
          <p:nvSpPr>
            <p:cNvPr id="48" name="TextBox 47">
              <a:hlinkClick r:id="rId19" tooltip="Николай Костов - блог за програмиране"/>
            </p:cNvPr>
            <p:cNvSpPr txBox="1"/>
            <p:nvPr userDrawn="1"/>
          </p:nvSpPr>
          <p:spPr>
            <a:xfrm flipH="1">
              <a:off x="3401423" y="3217864"/>
              <a:ext cx="1513403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l"/>
              <a:r>
                <a:rPr lang="bg-BG" sz="200" kern="1200" noProof="1" smtClean="0">
                  <a:ln w="0">
                    <a:noFill/>
                  </a:ln>
                  <a:solidFill>
                    <a:schemeClr val="bg1"/>
                  </a:solidFill>
                  <a:effectLst/>
                  <a:latin typeface="Corbel" pitchFamily="34" charset="0"/>
                  <a:ea typeface="+mn-ea"/>
                  <a:cs typeface="+mn-cs"/>
                </a:rPr>
                <a:t>Николай Костов - блог за програмиране</a:t>
              </a:r>
              <a:endParaRPr lang="bg-BG" sz="200" kern="1200" noProof="1">
                <a:ln w="0">
                  <a:noFill/>
                </a:ln>
                <a:solidFill>
                  <a:schemeClr val="bg1"/>
                </a:solidFill>
                <a:effectLst/>
                <a:latin typeface="Corbel" pitchFamily="34" charset="0"/>
                <a:ea typeface="+mn-ea"/>
                <a:cs typeface="+mn-cs"/>
              </a:endParaRPr>
            </a:p>
          </p:txBody>
        </p:sp>
        <p:sp>
          <p:nvSpPr>
            <p:cNvPr id="49" name="TextBox 48">
              <a:hlinkClick r:id="rId20" tooltip="безплатен C# курс в софтуерната академия на Наков"/>
            </p:cNvPr>
            <p:cNvSpPr txBox="1"/>
            <p:nvPr userDrawn="1"/>
          </p:nvSpPr>
          <p:spPr>
            <a:xfrm flipH="1">
              <a:off x="3398079" y="3548402"/>
              <a:ext cx="1359837" cy="121041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1600">
                  <a:ln w="0">
                    <a:solidFill>
                      <a:schemeClr val="tx1"/>
                    </a:solidFill>
                  </a:ln>
                  <a:effectLst/>
                </a:defRPr>
              </a:lvl1pPr>
            </a:lstStyle>
            <a:p>
              <a:pPr lvl="0"/>
              <a:r>
                <a:rPr lang="bg-BG" sz="200" noProof="1" smtClean="0">
                  <a:ln w="0">
                    <a:noFill/>
                  </a:ln>
                  <a:solidFill>
                    <a:schemeClr val="bg1"/>
                  </a:solidFill>
                </a:rPr>
                <a:t>C# курс, програмиране, безплатно</a:t>
              </a:r>
              <a:endParaRPr lang="bg-BG" sz="200" noProof="1">
                <a:ln w="0">
                  <a:noFill/>
                </a:ln>
                <a:solidFill>
                  <a:schemeClr val="bg1"/>
                </a:solidFill>
              </a:endParaRPr>
            </a:p>
          </p:txBody>
        </p:sp>
      </p:grp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1828800" y="152400"/>
            <a:ext cx="7086600" cy="8382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r" rtl="0" eaLnBrk="0" fontAlgn="base" hangingPunct="0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defRPr lang="en-US" sz="4000" b="1" kern="1200" baseline="0" dirty="0">
                <a:ln w="500"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Presentation Title</a:t>
            </a:r>
            <a:endParaRPr lang="en-US" dirty="0"/>
          </a:p>
        </p:txBody>
      </p:sp>
      <p:sp>
        <p:nvSpPr>
          <p:cNvPr id="9" name="TextBox 8">
            <a:hlinkClick r:id="rId2" tooltip="Форум за програмиране и уеб дизайн - дискусии, съвети, въпроси и отговори @ Софтуерна академия на Телерик"/>
          </p:cNvPr>
          <p:cNvSpPr txBox="1"/>
          <p:nvPr userDrawn="1"/>
        </p:nvSpPr>
        <p:spPr>
          <a:xfrm rot="12041701" flipH="1">
            <a:off x="7471619" y="3840481"/>
            <a:ext cx="890352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9600" b="1" dirty="0" smtClean="0">
                <a:solidFill>
                  <a:schemeClr val="tx1">
                    <a:lumMod val="75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9600" b="1" dirty="0">
              <a:solidFill>
                <a:schemeClr val="tx1">
                  <a:lumMod val="75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1" name="TextBox 10">
            <a:hlinkClick r:id="rId4" tooltip="Програмиране за деца - безплатно в Телерик кидс академия"/>
          </p:cNvPr>
          <p:cNvSpPr txBox="1"/>
          <p:nvPr userDrawn="1"/>
        </p:nvSpPr>
        <p:spPr>
          <a:xfrm rot="9535351" flipH="1">
            <a:off x="923386" y="1861198"/>
            <a:ext cx="673363" cy="14465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isometricOffAxis1Righ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8800" dirty="0" smtClean="0"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8800" dirty="0">
              <a:solidFill>
                <a:schemeClr val="accent5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2" name="TextBox 11">
            <a:hlinkClick r:id="rId5" tooltip="Безплатен SEO курс - оптимизация за търсачки, уроци по SEO"/>
          </p:cNvPr>
          <p:cNvSpPr txBox="1"/>
          <p:nvPr userDrawn="1"/>
        </p:nvSpPr>
        <p:spPr>
          <a:xfrm rot="16938170" flipH="1">
            <a:off x="4905823" y="966542"/>
            <a:ext cx="859648" cy="19928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11500" b="1" dirty="0" smtClean="0">
                <a:solidFill>
                  <a:srgbClr val="FF831D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11500" b="1" dirty="0">
              <a:solidFill>
                <a:srgbClr val="FF831D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3" name="TextBox 12">
            <a:hlinkClick r:id="rId6" tooltip="Безплатен курс &quot;Уеб дизайн с HTML, CSS и JavaScript&quot; - уроци по правене на уеб сайтове, HTML, CSS, Photoshop, JavaScript и CMS системи"/>
          </p:cNvPr>
          <p:cNvSpPr txBox="1"/>
          <p:nvPr userDrawn="1"/>
        </p:nvSpPr>
        <p:spPr>
          <a:xfrm rot="19836951" flipH="1">
            <a:off x="7379010" y="1495154"/>
            <a:ext cx="949687" cy="206210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12800" b="1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innerShdw blurRad="63500" dist="50800" dir="8100000">
                    <a:prstClr val="black">
                      <a:alpha val="50000"/>
                    </a:prstClr>
                  </a:innerShdw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12800" b="1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innerShdw blurRad="63500" dist="50800" dir="8100000">
                  <a:prstClr val="black">
                    <a:alpha val="50000"/>
                  </a:prstClr>
                </a:innerShdw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4" name="TextBox 13">
            <a:hlinkClick r:id="rId7" tooltip="Училищна софтуерна академия - безплатни уроци по програмиране и уеб дизайн"/>
          </p:cNvPr>
          <p:cNvSpPr txBox="1"/>
          <p:nvPr userDrawn="1"/>
        </p:nvSpPr>
        <p:spPr>
          <a:xfrm rot="2233443" flipH="1">
            <a:off x="2139218" y="940065"/>
            <a:ext cx="445351" cy="95410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perspectiveHeroicExtremeLeftFacing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5600" dirty="0" smtClean="0">
                <a:solidFill>
                  <a:schemeClr val="tx2">
                    <a:lumMod val="75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5600" dirty="0">
              <a:solidFill>
                <a:schemeClr val="tx2">
                  <a:lumMod val="75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5" name="TextBox 14">
            <a:hlinkClick r:id="rId8" tooltip="Безплатен курс &quot;Програмиране с ASP.NET MVC&quot; - уеб технологии, бази данни, C#, .NET, ASP.NET MVC"/>
          </p:cNvPr>
          <p:cNvSpPr txBox="1"/>
          <p:nvPr userDrawn="1"/>
        </p:nvSpPr>
        <p:spPr>
          <a:xfrm rot="8530737" flipH="1">
            <a:off x="4757100" y="4722613"/>
            <a:ext cx="643173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9600" dirty="0" smtClean="0">
                <a:solidFill>
                  <a:srgbClr val="FF4A37"/>
                </a:solidFill>
                <a:effectLst>
                  <a:reflection blurRad="6350" stA="60000" endA="900" endPos="60000" dist="29997" dir="5400000" sy="-100000" algn="bl" rotWithShape="0"/>
                </a:effectLst>
              </a:rPr>
              <a:t>?</a:t>
            </a:r>
            <a:endParaRPr lang="en-US" sz="9600" dirty="0">
              <a:solidFill>
                <a:srgbClr val="FF4A37"/>
              </a:solidFill>
              <a:effectLst>
                <a:reflection blurRad="6350" stA="60000" endA="900" endPos="60000" dist="29997" dir="5400000" sy="-100000" algn="bl" rotWithShape="0"/>
              </a:effectLst>
            </a:endParaRPr>
          </a:p>
        </p:txBody>
      </p:sp>
      <p:sp>
        <p:nvSpPr>
          <p:cNvPr id="16" name="TextBox 15">
            <a:hlinkClick r:id="rId9" tooltip="Безплатен курс &quot;Разработка на софтуер в Cloud среда&quot; - AppEngine, AWS, Azure"/>
          </p:cNvPr>
          <p:cNvSpPr txBox="1"/>
          <p:nvPr userDrawn="1"/>
        </p:nvSpPr>
        <p:spPr>
          <a:xfrm rot="12627025" flipH="1">
            <a:off x="2910497" y="4405707"/>
            <a:ext cx="386488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3600" dirty="0" smtClean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3600" dirty="0">
              <a:solidFill>
                <a:schemeClr val="tx2">
                  <a:lumMod val="40000"/>
                  <a:lumOff val="6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7" name="TextBox 16">
            <a:hlinkClick r:id="rId10" tooltip="BG Coder - онлайн състезателна система - тренировки за състезания по програмиране - online judge"/>
          </p:cNvPr>
          <p:cNvSpPr txBox="1"/>
          <p:nvPr userDrawn="1"/>
        </p:nvSpPr>
        <p:spPr>
          <a:xfrm rot="1186146" flipH="1">
            <a:off x="6185957" y="4125718"/>
            <a:ext cx="499379" cy="110799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</a:sp3d>
          </a:bodyPr>
          <a:lstStyle/>
          <a:p>
            <a:r>
              <a:rPr lang="en-US" sz="6600" dirty="0" smtClean="0">
                <a:solidFill>
                  <a:srgbClr val="9966FF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6600" dirty="0">
              <a:solidFill>
                <a:srgbClr val="9966FF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8" name="TextBox 17">
            <a:hlinkClick r:id="rId11" tooltip="Светлин Наков - курсове и уроци по програмиране, уеб дизайн, книги, обучения - безплатно"/>
          </p:cNvPr>
          <p:cNvSpPr txBox="1"/>
          <p:nvPr userDrawn="1"/>
        </p:nvSpPr>
        <p:spPr>
          <a:xfrm rot="19460650" flipH="1">
            <a:off x="3150206" y="1979501"/>
            <a:ext cx="489197" cy="769441"/>
          </a:xfrm>
          <a:prstGeom prst="rect">
            <a:avLst/>
          </a:prstGeom>
          <a:noFill/>
        </p:spPr>
        <p:txBody>
          <a:bodyPr wrap="square" rtlCol="0">
            <a:prstTxWarp prst="textInflate">
              <a:avLst/>
            </a:prstTxWarp>
            <a:spAutoFit/>
            <a:scene3d>
              <a:camera prst="perspectiveRelaxedModerately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4400" dirty="0" smtClean="0">
                <a:solidFill>
                  <a:srgbClr val="FF6699"/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4400" dirty="0">
              <a:solidFill>
                <a:srgbClr val="FF6699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19" name="TextBox 18">
            <a:hlinkClick r:id="rId12" tooltip="Безплатен курс &quot;Качествен програмен код&quot;"/>
          </p:cNvPr>
          <p:cNvSpPr txBox="1"/>
          <p:nvPr userDrawn="1"/>
        </p:nvSpPr>
        <p:spPr>
          <a:xfrm rot="18277140" flipH="1">
            <a:off x="405234" y="3272336"/>
            <a:ext cx="413607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3600" dirty="0" smtClean="0">
                <a:solidFill>
                  <a:schemeClr val="tx2">
                    <a:lumMod val="40000"/>
                    <a:lumOff val="6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3600" dirty="0">
              <a:solidFill>
                <a:schemeClr val="tx2">
                  <a:lumMod val="40000"/>
                  <a:lumOff val="6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0" name="TextBox 19">
            <a:hlinkClick r:id="rId13" tooltip="Алго академия - Академия по алгоритмично програмиране - безплатни уроци по алгоритми и структури от данни, състезателно програмиране и състезания"/>
          </p:cNvPr>
          <p:cNvSpPr txBox="1"/>
          <p:nvPr userDrawn="1"/>
        </p:nvSpPr>
        <p:spPr>
          <a:xfrm rot="18695734" flipH="1">
            <a:off x="3127407" y="5396299"/>
            <a:ext cx="5481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?</a:t>
            </a:r>
            <a:endParaRPr lang="en-US" sz="6000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sp>
        <p:nvSpPr>
          <p:cNvPr id="21" name="TextBox 20">
            <a:hlinkClick r:id="rId14" tooltip="Безплатен ASP.NET курс - уеб програмиране, бази данни, C#, .NET, ASP.NET"/>
          </p:cNvPr>
          <p:cNvSpPr txBox="1"/>
          <p:nvPr userDrawn="1"/>
        </p:nvSpPr>
        <p:spPr>
          <a:xfrm rot="10134629" flipH="1">
            <a:off x="6730680" y="5522529"/>
            <a:ext cx="44439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4000" dirty="0" smtClean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4000" dirty="0">
              <a:solidFill>
                <a:schemeClr val="accent4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2" name="TextBox 21">
            <a:hlinkClick r:id="rId15" tooltip="Софтуерна академия на Телерик - безплатни курсове и уроци по програмиране"/>
          </p:cNvPr>
          <p:cNvSpPr txBox="1"/>
          <p:nvPr userDrawn="1"/>
        </p:nvSpPr>
        <p:spPr>
          <a:xfrm rot="12126217" flipH="1">
            <a:off x="559977" y="930479"/>
            <a:ext cx="387894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r>
              <a:rPr lang="en-US" sz="4000" b="1" spc="150" dirty="0" smtClean="0">
                <a:ln w="1143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</a:rPr>
              <a:t>?</a:t>
            </a:r>
            <a:endParaRPr lang="en-US" sz="4000" b="1" spc="150" dirty="0">
              <a:ln w="11430"/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</a:endParaRPr>
          </a:p>
        </p:txBody>
      </p:sp>
      <p:sp>
        <p:nvSpPr>
          <p:cNvPr id="23" name="TextBox 22">
            <a:hlinkClick r:id="rId16" tooltip="Безплатен курс &quot;Разработка на мобилни приложения&quot; - iPhone, Android, Windows Phone, PhoneGap, HTML5, jQuery, AJAX"/>
          </p:cNvPr>
          <p:cNvSpPr txBox="1"/>
          <p:nvPr userDrawn="1"/>
        </p:nvSpPr>
        <p:spPr>
          <a:xfrm rot="20840689" flipH="1">
            <a:off x="8186733" y="5517701"/>
            <a:ext cx="357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ln w="19050">
                  <a:solidFill>
                    <a:schemeClr val="accent4">
                      <a:lumMod val="75000"/>
                      <a:alpha val="50000"/>
                    </a:schemeClr>
                  </a:solidFill>
                  <a:prstDash val="solid"/>
                  <a:miter lim="800000"/>
                </a:ln>
                <a:solidFill>
                  <a:schemeClr val="accent4">
                    <a:lumMod val="20000"/>
                    <a:lumOff val="80000"/>
                    <a:alpha val="25000"/>
                  </a:schemeClr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?</a:t>
            </a:r>
            <a:endParaRPr lang="en-US" sz="4000" b="1" dirty="0">
              <a:ln w="19050">
                <a:solidFill>
                  <a:schemeClr val="accent4">
                    <a:lumMod val="75000"/>
                    <a:alpha val="50000"/>
                  </a:schemeClr>
                </a:solidFill>
                <a:prstDash val="solid"/>
                <a:miter lim="800000"/>
              </a:ln>
              <a:solidFill>
                <a:schemeClr val="accent4">
                  <a:lumMod val="20000"/>
                  <a:lumOff val="80000"/>
                  <a:alpha val="25000"/>
                </a:schemeClr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24" name="TextBox 23">
            <a:hlinkClick r:id="rId17" tooltip="Free C# Programming Book by Svetlin Nakov - безплатна C# книга от Светлин Наков, книга C#, книга Java, безплатна книга"/>
          </p:cNvPr>
          <p:cNvSpPr txBox="1"/>
          <p:nvPr userDrawn="1"/>
        </p:nvSpPr>
        <p:spPr>
          <a:xfrm rot="15426793" flipH="1">
            <a:off x="1145826" y="4072253"/>
            <a:ext cx="369652" cy="76944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4400" dirty="0" smtClean="0">
                <a:ln>
                  <a:solidFill>
                    <a:schemeClr val="accent2">
                      <a:lumMod val="40000"/>
                      <a:lumOff val="60000"/>
                    </a:schemeClr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4400" dirty="0"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5" name="TextBox 24">
            <a:hlinkClick r:id="rId18" tooltip="Дончо Минков - сайт за програмиране"/>
          </p:cNvPr>
          <p:cNvSpPr txBox="1"/>
          <p:nvPr userDrawn="1"/>
        </p:nvSpPr>
        <p:spPr>
          <a:xfrm rot="11071760" flipH="1">
            <a:off x="6518175" y="1140358"/>
            <a:ext cx="345408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2800" dirty="0" smtClean="0">
                <a:ln>
                  <a:solidFill>
                    <a:schemeClr val="tx1">
                      <a:lumMod val="75000"/>
                    </a:schemeClr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2800" dirty="0">
              <a:ln>
                <a:solidFill>
                  <a:schemeClr val="tx1">
                    <a:lumMod val="75000"/>
                  </a:schemeClr>
                </a:solidFill>
              </a:ln>
              <a:solidFill>
                <a:schemeClr val="accent4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6" name="TextBox 25">
            <a:hlinkClick r:id="rId19" tooltip="Николай Костов - блог за програмиране"/>
          </p:cNvPr>
          <p:cNvSpPr txBox="1"/>
          <p:nvPr userDrawn="1"/>
        </p:nvSpPr>
        <p:spPr>
          <a:xfrm rot="300526" flipH="1">
            <a:off x="3902297" y="1278821"/>
            <a:ext cx="345408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2800" b="1" dirty="0" smtClean="0">
                <a:ln w="31550" cmpd="sng">
                  <a:solidFill>
                    <a:schemeClr val="tx2">
                      <a:lumMod val="20000"/>
                      <a:lumOff val="80000"/>
                    </a:schemeClr>
                  </a:solidFill>
                  <a:prstDash val="solid"/>
                </a:ln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50800" dist="40000" dir="5400000" algn="tl" rotWithShape="0">
                    <a:srgbClr val="000000">
                      <a:shade val="5000"/>
                      <a:satMod val="120000"/>
                      <a:alpha val="33000"/>
                    </a:srgbClr>
                  </a:outerShdw>
                </a:effectLst>
              </a:rPr>
              <a:t>?</a:t>
            </a:r>
            <a:endParaRPr lang="en-US" sz="2800" dirty="0">
              <a:ln w="31550" cmpd="sng">
                <a:solidFill>
                  <a:schemeClr val="tx2">
                    <a:lumMod val="20000"/>
                    <a:lumOff val="80000"/>
                  </a:schemeClr>
                </a:solidFill>
                <a:prstDash val="solid"/>
              </a:ln>
              <a:solidFill>
                <a:schemeClr val="tx1">
                  <a:lumMod val="20000"/>
                  <a:lumOff val="8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7" name="TextBox 26">
            <a:hlinkClick r:id="rId20" tooltip="C# курс - програмиране, уроци, видео, лекции от Наков"/>
          </p:cNvPr>
          <p:cNvSpPr txBox="1"/>
          <p:nvPr userDrawn="1"/>
        </p:nvSpPr>
        <p:spPr>
          <a:xfrm rot="2086872" flipH="1">
            <a:off x="8330354" y="1359227"/>
            <a:ext cx="444390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r>
              <a:rPr lang="en-US" sz="3200" dirty="0" smtClean="0">
                <a:ln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reflection blurRad="6350" stA="55000" endA="300" endPos="45500" dir="5400000" sy="-100000" algn="bl" rotWithShape="0"/>
                </a:effectLst>
              </a:rPr>
              <a:t>?</a:t>
            </a:r>
            <a:endParaRPr lang="en-US" sz="3200" dirty="0"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  <a:solidFill>
                <a:schemeClr val="accent4">
                  <a:lumMod val="60000"/>
                  <a:lumOff val="40000"/>
                </a:schemeClr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28" name="Rectangle 27"/>
          <p:cNvSpPr/>
          <p:nvPr userDrawn="1"/>
        </p:nvSpPr>
        <p:spPr>
          <a:xfrm>
            <a:off x="1828800" y="2903716"/>
            <a:ext cx="5486400" cy="1261884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lvl="0" indent="0" algn="ctr" ea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</a:pPr>
            <a:r>
              <a:rPr lang="en-US" sz="7600" b="1" spc="150" noProof="0" dirty="0" smtClean="0">
                <a:ln w="11430"/>
                <a:solidFill>
                  <a:schemeClr val="tx1">
                    <a:lumMod val="40000"/>
                    <a:lumOff val="60000"/>
                  </a:schemeClr>
                </a:solidFill>
                <a:effectLst>
                  <a:outerShdw blurRad="254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rPr>
              <a:t>Questions?</a:t>
            </a:r>
            <a:endParaRPr lang="en-US" sz="7600" b="1" spc="150" dirty="0">
              <a:ln w="11430"/>
              <a:solidFill>
                <a:schemeClr val="tx1">
                  <a:lumMod val="40000"/>
                  <a:lumOff val="60000"/>
                </a:schemeClr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latin typeface="+mn-lt"/>
            </a:endParaRPr>
          </a:p>
        </p:txBody>
      </p:sp>
      <p:sp>
        <p:nvSpPr>
          <p:cNvPr id="29" name="Text Placeholder 29"/>
          <p:cNvSpPr>
            <a:spLocks noGrp="1"/>
          </p:cNvSpPr>
          <p:nvPr>
            <p:ph type="body" sz="quarter" idx="10" hasCustomPrompt="1"/>
          </p:nvPr>
        </p:nvSpPr>
        <p:spPr>
          <a:xfrm>
            <a:off x="6807131" y="6400800"/>
            <a:ext cx="2218556" cy="369332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 smtClean="0"/>
              <a:t>Course web site URL</a:t>
            </a:r>
            <a:endParaRPr lang="en-US" dirty="0"/>
          </a:p>
        </p:txBody>
      </p:sp>
      <p:sp>
        <p:nvSpPr>
          <p:cNvPr id="10" name="TextBox 9">
            <a:hlinkClick r:id="rId3" tooltip="Курсове и уроци по програмиране, уеб дизайн, разработка на софтуер и информационни технологии - лекции, видео уроци, обучения - безплатно"/>
          </p:cNvPr>
          <p:cNvSpPr txBox="1"/>
          <p:nvPr userDrawn="1"/>
        </p:nvSpPr>
        <p:spPr>
          <a:xfrm rot="2456848" flipH="1">
            <a:off x="968763" y="4970087"/>
            <a:ext cx="859648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>
              <a:lnSpc>
                <a:spcPct val="80000"/>
              </a:lnSpc>
            </a:pPr>
            <a:r>
              <a:rPr lang="en-US" sz="12000" b="1" dirty="0" smtClean="0">
                <a:solidFill>
                  <a:srgbClr val="FFBF8B"/>
                </a:solidFill>
                <a:effectLst>
                  <a:reflection blurRad="6350" stA="55000" endA="300" endPos="45500" dir="5400000" sy="-100000" algn="bl" rotWithShape="0"/>
                </a:effectLst>
                <a:latin typeface="Cambria" pitchFamily="18" charset="0"/>
              </a:rPr>
              <a:t>?</a:t>
            </a:r>
            <a:endParaRPr lang="en-US" sz="12000" b="1" dirty="0">
              <a:solidFill>
                <a:srgbClr val="FFBF8B"/>
              </a:solidFill>
              <a:effectLst>
                <a:reflection blurRad="6350" stA="55000" endA="300" endPos="45500" dir="5400000" sy="-100000" algn="bl" rotWithShape="0"/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microsoft.com/office/2007/relationships/hdphoto" Target="../media/hdphoto1.wdp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3"/>
          <p:cNvPicPr>
            <a:picLocks noChangeAspect="1" noChangeArrowheads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00"/>
            <a:ext cx="9144000" cy="5907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" name="Picture 2"/>
          <p:cNvPicPr>
            <a:picLocks noChangeAspect="1" noChangeArrowheads="1"/>
          </p:cNvPicPr>
          <p:nvPr userDrawn="1"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247650"/>
            <a:ext cx="9144000" cy="4833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6" name="Picture 2"/>
          <p:cNvPicPr>
            <a:picLocks noChangeAspect="1" noChangeArrowheads="1"/>
          </p:cNvPicPr>
          <p:nvPr userDrawn="1"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52400" y="228600"/>
            <a:ext cx="1714500" cy="428625"/>
          </a:xfrm>
          <a:prstGeom prst="rect">
            <a:avLst/>
          </a:prstGeom>
          <a:noFill/>
          <a:effectLst>
            <a:outerShdw blurRad="127000" sx="101000" sy="101000" algn="ctr" rotWithShape="0">
              <a:schemeClr val="tx1">
                <a:lumMod val="20000"/>
                <a:lumOff val="80000"/>
                <a:alpha val="75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701" r:id="rId1"/>
    <p:sldLayoutId id="2147483688" r:id="rId2"/>
    <p:sldLayoutId id="2147483704" r:id="rId3"/>
    <p:sldLayoutId id="2147483689" r:id="rId4"/>
    <p:sldLayoutId id="2147483703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r" rtl="0" eaLnBrk="0" fontAlgn="base" hangingPunct="0">
        <a:lnSpc>
          <a:spcPts val="4400"/>
        </a:lnSpc>
        <a:spcBef>
          <a:spcPct val="0"/>
        </a:spcBef>
        <a:spcAft>
          <a:spcPct val="0"/>
        </a:spcAft>
        <a:defRPr sz="4400" b="1" kern="1200" baseline="0">
          <a:ln w="500">
            <a:noFill/>
          </a:ln>
          <a:solidFill>
            <a:schemeClr val="tx2"/>
          </a:solidFill>
          <a:effectLst>
            <a:outerShdw blurRad="38100" dist="38100" dir="2700000" algn="tl">
              <a:srgbClr val="000000">
                <a:alpha val="43137"/>
              </a:srgbClr>
            </a:outerShdw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Corbel" pitchFamily="34" charset="0"/>
        </a:defRPr>
      </a:lvl9pPr>
    </p:titleStyle>
    <p:bodyStyle>
      <a:lvl1pPr marL="319088" indent="-319088" algn="l" rtl="0" eaLnBrk="0" fontAlgn="base" hangingPunct="0">
        <a:spcBef>
          <a:spcPct val="20000"/>
        </a:spcBef>
        <a:spcAft>
          <a:spcPct val="0"/>
        </a:spcAft>
        <a:buClr>
          <a:schemeClr val="accent5">
            <a:lumMod val="40000"/>
            <a:lumOff val="60000"/>
          </a:schemeClr>
        </a:buClr>
        <a:buSzPct val="70000"/>
        <a:buFont typeface="Wingdings 2" pitchFamily="18" charset="2"/>
        <a:buChar char=""/>
        <a:defRPr sz="32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1pPr>
      <a:lvl2pPr marL="630238" indent="-273050" algn="l" rtl="0" eaLnBrk="0" fontAlgn="base" hangingPunct="0">
        <a:spcBef>
          <a:spcPct val="20000"/>
        </a:spcBef>
        <a:spcAft>
          <a:spcPct val="0"/>
        </a:spcAft>
        <a:buClr>
          <a:schemeClr val="accent2">
            <a:lumMod val="60000"/>
            <a:lumOff val="40000"/>
          </a:schemeClr>
        </a:buClr>
        <a:buFont typeface="Wingdings 2" pitchFamily="18" charset="2"/>
        <a:buChar char=""/>
        <a:defRPr sz="30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2pPr>
      <a:lvl3pPr marL="922338" indent="-273050" algn="l" rtl="0" eaLnBrk="0" fontAlgn="base" hangingPunct="0">
        <a:spcBef>
          <a:spcPct val="20000"/>
        </a:spcBef>
        <a:spcAft>
          <a:spcPct val="0"/>
        </a:spcAft>
        <a:buClr>
          <a:schemeClr val="tx1">
            <a:lumMod val="50000"/>
          </a:schemeClr>
        </a:buClr>
        <a:buFont typeface="Wingdings 2" pitchFamily="18" charset="2"/>
        <a:buChar char=""/>
        <a:defRPr sz="28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3pPr>
      <a:lvl4pPr marL="1187450" indent="-228600" algn="l" rtl="0" eaLnBrk="0" fontAlgn="base" hangingPunct="0">
        <a:spcBef>
          <a:spcPct val="20000"/>
        </a:spcBef>
        <a:spcAft>
          <a:spcPct val="0"/>
        </a:spcAft>
        <a:buClr>
          <a:srgbClr val="F8BD52"/>
        </a:buClr>
        <a:buFont typeface="Wingdings 2" pitchFamily="18" charset="2"/>
        <a:buChar char=""/>
        <a:defRPr sz="26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4pPr>
      <a:lvl5pPr marL="1425575" indent="-228600" algn="l" rtl="0" eaLnBrk="0" fontAlgn="base" hangingPunct="0">
        <a:spcBef>
          <a:spcPct val="20000"/>
        </a:spcBef>
        <a:spcAft>
          <a:spcPct val="0"/>
        </a:spcAft>
        <a:buClr>
          <a:srgbClr val="46A6BD"/>
        </a:buClr>
        <a:buFont typeface="Wingdings 2" pitchFamily="18" charset="2"/>
        <a:buChar char=""/>
        <a:defRPr sz="2400" b="1" kern="1200">
          <a:solidFill>
            <a:schemeClr val="tx1">
              <a:lumMod val="20000"/>
              <a:lumOff val="80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5pPr>
      <a:lvl6pPr marL="1673352" indent="-22860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11096" indent="-228600" algn="l" rtl="0" eaLnBrk="1" latinLnBrk="0" hangingPunct="1">
        <a:spcBef>
          <a:spcPct val="20000"/>
        </a:spcBef>
        <a:buClr>
          <a:schemeClr val="tx2"/>
        </a:buClr>
        <a:buFont typeface="Wingdings 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21408" indent="-182880" algn="l" rtl="0" eaLnBrk="1" latinLnBrk="0" hangingPunct="1">
        <a:spcBef>
          <a:spcPct val="20000"/>
        </a:spcBef>
        <a:buClr>
          <a:schemeClr val="tx2"/>
        </a:buClr>
        <a:buFont typeface="Wingdings 2"/>
        <a:buChar char="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22576" indent="-182880" algn="l" rtl="0" eaLnBrk="1" latinLnBrk="0" hangingPunct="1">
        <a:spcBef>
          <a:spcPct val="20000"/>
        </a:spcBef>
        <a:buClr>
          <a:schemeClr val="tx2"/>
        </a:buClr>
        <a:buFont typeface="Wingdings 2"/>
        <a:buChar char="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://academy.telerik.com/" TargetMode="External"/><Relationship Id="rId4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hyperlink" Target="http://codecamperdemo.sitecloud.cytanium.com/" TargetMode="Externa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://schoolacademy.telerik.com/" TargetMode="Externa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hyperlink" Target="http://facebook.com/TelerikAcademy" TargetMode="External"/><Relationship Id="rId3" Type="http://schemas.openxmlformats.org/officeDocument/2006/relationships/hyperlink" Target="http://academy.telerik.com/" TargetMode="External"/><Relationship Id="rId7" Type="http://schemas.openxmlformats.org/officeDocument/2006/relationships/image" Target="../media/image26.png"/><Relationship Id="rId2" Type="http://schemas.openxmlformats.org/officeDocument/2006/relationships/hyperlink" Target="http://csharpfundamentals.telerik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hyperlink" Target="http://forums.academy.telerik.com/" TargetMode="External"/><Relationship Id="rId10" Type="http://schemas.openxmlformats.org/officeDocument/2006/relationships/image" Target="../media/image28.png"/><Relationship Id="rId4" Type="http://schemas.openxmlformats.org/officeDocument/2006/relationships/hyperlink" Target="http://www.facebook.com/telerikacademy" TargetMode="External"/><Relationship Id="rId9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362200"/>
            <a:ext cx="8229600" cy="1524000"/>
          </a:xfrm>
        </p:spPr>
        <p:txBody>
          <a:bodyPr/>
          <a:lstStyle/>
          <a:p>
            <a:r>
              <a:rPr lang="en-US" dirty="0" smtClean="0"/>
              <a:t>ASP.NET MVC</a:t>
            </a:r>
            <a:br>
              <a:rPr lang="en-US" dirty="0" smtClean="0"/>
            </a:br>
            <a:r>
              <a:rPr lang="en-US" dirty="0" smtClean="0"/>
              <a:t>AJAX</a:t>
            </a:r>
            <a:endParaRPr lang="en-US" dirty="0"/>
          </a:p>
        </p:txBody>
      </p:sp>
      <p:pic>
        <p:nvPicPr>
          <p:cNvPr id="1026" name="Picture 2" descr="C:\Users\paveldk\Desktop\Ajax_Amsterdam.svg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14800" y="4495800"/>
            <a:ext cx="1905000" cy="1914525"/>
          </a:xfrm>
          <a:prstGeom prst="rect">
            <a:avLst/>
          </a:prstGeom>
          <a:noFill/>
        </p:spPr>
      </p:pic>
      <p:pic>
        <p:nvPicPr>
          <p:cNvPr id="1027" name="Picture 3" descr="C:\Users\paveldk\Desktop\ajax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2057400"/>
            <a:ext cx="3684588" cy="1853808"/>
          </a:xfrm>
          <a:prstGeom prst="rect">
            <a:avLst/>
          </a:prstGeom>
          <a:noFill/>
        </p:spPr>
      </p:pic>
      <p:pic>
        <p:nvPicPr>
          <p:cNvPr id="1028" name="Picture 4" descr="C:\Users\paveldk\Desktop\21295688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781800" y="4572000"/>
            <a:ext cx="1981200" cy="1981200"/>
          </a:xfrm>
          <a:prstGeom prst="rect">
            <a:avLst/>
          </a:prstGeom>
          <a:noFill/>
        </p:spPr>
      </p:pic>
      <p:sp>
        <p:nvSpPr>
          <p:cNvPr id="18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44500" y="4648200"/>
            <a:ext cx="3352800" cy="533400"/>
          </a:xfrm>
        </p:spPr>
        <p:txBody>
          <a:bodyPr/>
          <a:lstStyle/>
          <a:p>
            <a:r>
              <a:rPr lang="en-US" dirty="0" smtClean="0"/>
              <a:t>Ivaylo Kenov</a:t>
            </a:r>
            <a:endParaRPr lang="en-US" dirty="0"/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457200" y="6096000"/>
            <a:ext cx="3352800" cy="369332"/>
          </a:xfrm>
        </p:spPr>
        <p:txBody>
          <a:bodyPr/>
          <a:lstStyle/>
          <a:p>
            <a:r>
              <a:rPr lang="en-US" dirty="0"/>
              <a:t>Telerik Software Academy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57200" y="5181600"/>
            <a:ext cx="3352800" cy="446276"/>
          </a:xfrm>
        </p:spPr>
        <p:txBody>
          <a:bodyPr/>
          <a:lstStyle/>
          <a:p>
            <a:pPr marL="0"/>
            <a:r>
              <a:rPr lang="en-US" dirty="0" smtClean="0"/>
              <a:t>Technical Trainer</a:t>
            </a:r>
            <a:endParaRPr lang="en-US" dirty="0"/>
          </a:p>
        </p:txBody>
      </p:sp>
      <p:sp>
        <p:nvSpPr>
          <p:cNvPr id="21" name="Text Placeholder 7"/>
          <p:cNvSpPr>
            <a:spLocks noGrp="1"/>
          </p:cNvSpPr>
          <p:nvPr>
            <p:ph type="body" sz="quarter" idx="14"/>
          </p:nvPr>
        </p:nvSpPr>
        <p:spPr>
          <a:xfrm>
            <a:off x="457200" y="5619690"/>
            <a:ext cx="3352800" cy="400110"/>
          </a:xfrm>
        </p:spPr>
        <p:txBody>
          <a:bodyPr/>
          <a:lstStyle/>
          <a:p>
            <a:r>
              <a:rPr lang="en-US" dirty="0" smtClean="0">
                <a:hlinkClick r:id="rId5"/>
              </a:rPr>
              <a:t>http://academy.telerik.com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799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Table </a:t>
            </a:r>
            <a:r>
              <a:rPr lang="en-US" smtClean="0"/>
              <a:t>of Contents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AJAX</a:t>
            </a:r>
          </a:p>
          <a:p>
            <a:r>
              <a:rPr lang="en-US" dirty="0" smtClean="0"/>
              <a:t>ASP.NET MVC AJAX</a:t>
            </a:r>
          </a:p>
          <a:p>
            <a:r>
              <a:rPr lang="en-US" dirty="0" smtClean="0"/>
              <a:t>ASP.NET WEB API</a:t>
            </a:r>
          </a:p>
          <a:p>
            <a:r>
              <a:rPr lang="en-US" dirty="0" smtClean="0"/>
              <a:t>ASP.NET SPA</a:t>
            </a:r>
          </a:p>
          <a:p>
            <a:r>
              <a:rPr lang="en-US" dirty="0" smtClean="0"/>
              <a:t>ASP.NET SIGNALR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pic>
        <p:nvPicPr>
          <p:cNvPr id="5" name="Picture 5" descr="C:\Users\nkostov\Desktop\Untitle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1502284">
            <a:off x="4669248" y="510584"/>
            <a:ext cx="4286250" cy="357187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2871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09600" y="1295400"/>
            <a:ext cx="7924800" cy="685800"/>
          </a:xfrm>
        </p:spPr>
        <p:txBody>
          <a:bodyPr/>
          <a:lstStyle/>
          <a:p>
            <a:r>
              <a:rPr lang="en-US" dirty="0" smtClean="0"/>
              <a:t>AJAX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686800" y="6553200"/>
            <a:ext cx="4572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pic>
        <p:nvPicPr>
          <p:cNvPr id="1026" name="Picture 2" descr="C:\Users\pavel.kolev\Desktop\ajax_p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2971800"/>
            <a:ext cx="3429000" cy="1707266"/>
          </a:xfrm>
          <a:prstGeom prst="rect">
            <a:avLst/>
          </a:prstGeom>
          <a:noFill/>
        </p:spPr>
      </p:pic>
      <p:pic>
        <p:nvPicPr>
          <p:cNvPr id="1027" name="Picture 3" descr="C:\Users\pavel.kolev\Desktop\asynchronous-640x306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8200" y="2971800"/>
            <a:ext cx="3581400" cy="171235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76381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AJAX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AJAX -  Asynchronous JavaScript and XML</a:t>
            </a:r>
          </a:p>
          <a:p>
            <a:r>
              <a:rPr lang="en-US" dirty="0" smtClean="0"/>
              <a:t>With Ajax, web applications can send data to, and retrieve data from, server asynchronously (in the background)</a:t>
            </a:r>
          </a:p>
          <a:p>
            <a:r>
              <a:rPr lang="en-US" dirty="0" smtClean="0"/>
              <a:t>AJAX is a combination of technologies</a:t>
            </a:r>
          </a:p>
          <a:p>
            <a:pPr marL="862013" lvl="1" indent="-514350"/>
            <a:r>
              <a:rPr lang="en-US" dirty="0" smtClean="0"/>
              <a:t>HTML and CSS for markup</a:t>
            </a:r>
          </a:p>
          <a:p>
            <a:pPr marL="862013" lvl="1" indent="-514350"/>
            <a:r>
              <a:rPr lang="en-US" dirty="0" smtClean="0"/>
              <a:t>DOM for display &amp; interaction</a:t>
            </a:r>
          </a:p>
          <a:p>
            <a:pPr marL="862013" lvl="1" indent="-514350"/>
            <a:r>
              <a:rPr lang="en-US" dirty="0" err="1" smtClean="0"/>
              <a:t>XMLHttpRequest</a:t>
            </a:r>
            <a:r>
              <a:rPr lang="en-US" dirty="0" smtClean="0"/>
              <a:t> for </a:t>
            </a:r>
            <a:r>
              <a:rPr lang="en-US" dirty="0" err="1" smtClean="0"/>
              <a:t>async</a:t>
            </a:r>
            <a:r>
              <a:rPr lang="en-US" dirty="0" smtClean="0"/>
              <a:t> communication</a:t>
            </a:r>
          </a:p>
          <a:p>
            <a:pPr marL="862013" lvl="1" indent="-514350"/>
            <a:r>
              <a:rPr lang="en-US" dirty="0" smtClean="0"/>
              <a:t>JS for tying it all together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3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mtClean="0"/>
              <a:t>The XMLHttpRequest object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686800" cy="5943600"/>
          </a:xfrm>
        </p:spPr>
        <p:txBody>
          <a:bodyPr/>
          <a:lstStyle/>
          <a:p>
            <a:r>
              <a:rPr lang="en-US" dirty="0" smtClean="0"/>
              <a:t>Used to send HTTP or HTTPS requests directly to a web server</a:t>
            </a:r>
          </a:p>
          <a:p>
            <a:r>
              <a:rPr lang="en-US" dirty="0" smtClean="0"/>
              <a:t>The data might be received from the server as JSON, XML, HTML, or as plain text.</a:t>
            </a:r>
          </a:p>
          <a:p>
            <a:r>
              <a:rPr lang="en-US" dirty="0" smtClean="0"/>
              <a:t>Requests will only succeed if they are made to the same server that served the original web page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pic>
        <p:nvPicPr>
          <p:cNvPr id="3074" name="Picture 2" descr="C:\Users\paveldk\Desktop\request_icon_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34200" y="4495800"/>
            <a:ext cx="1654629" cy="18097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79612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AJAX Pitfalls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Increased load on </a:t>
            </a:r>
            <a:r>
              <a:rPr lang="en-US" dirty="0" err="1" smtClean="0"/>
              <a:t>webserver</a:t>
            </a:r>
            <a:endParaRPr lang="en-US" dirty="0" smtClean="0"/>
          </a:p>
          <a:p>
            <a:r>
              <a:rPr lang="en-US" dirty="0" smtClean="0"/>
              <a:t>Harder to debug</a:t>
            </a:r>
          </a:p>
          <a:p>
            <a:r>
              <a:rPr lang="en-US" dirty="0" smtClean="0"/>
              <a:t>Harder to test</a:t>
            </a:r>
          </a:p>
          <a:p>
            <a:r>
              <a:rPr lang="en-US" dirty="0" smtClean="0"/>
              <a:t>No back button</a:t>
            </a:r>
          </a:p>
          <a:p>
            <a:r>
              <a:rPr lang="en-US" dirty="0" smtClean="0"/>
              <a:t>Support Non-Ajax clients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pic>
        <p:nvPicPr>
          <p:cNvPr id="4098" name="Picture 2" descr="C:\Users\paveldk\Desktop\Selling-a-business-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72200" y="4191000"/>
            <a:ext cx="2511425" cy="203277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24579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AJAX Libraries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5791200"/>
          </a:xfrm>
        </p:spPr>
        <p:txBody>
          <a:bodyPr/>
          <a:lstStyle/>
          <a:p>
            <a:r>
              <a:rPr lang="en-US" dirty="0" smtClean="0"/>
              <a:t>Google Web Toolkit</a:t>
            </a:r>
          </a:p>
          <a:p>
            <a:r>
              <a:rPr lang="en-US" dirty="0" smtClean="0"/>
              <a:t>Direct Web </a:t>
            </a:r>
            <a:r>
              <a:rPr lang="en-US" dirty="0" err="1" smtClean="0"/>
              <a:t>Remoting</a:t>
            </a:r>
            <a:endParaRPr lang="en-US" dirty="0" smtClean="0"/>
          </a:p>
          <a:p>
            <a:r>
              <a:rPr lang="en-US" dirty="0" err="1" smtClean="0"/>
              <a:t>AJAX.Net</a:t>
            </a:r>
            <a:endParaRPr lang="en-US" dirty="0" smtClean="0"/>
          </a:p>
          <a:p>
            <a:r>
              <a:rPr lang="en-US" dirty="0" smtClean="0"/>
              <a:t>Microsoft Ajax Extensions for ASP.NET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2947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mtClean="0"/>
              <a:t>Partial Rendering &amp; </a:t>
            </a:r>
            <a:br>
              <a:rPr smtClean="0"/>
            </a:br>
            <a:r>
              <a:rPr smtClean="0"/>
              <a:t>JavaScript Rendering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Partial Rendering - Making an asynchronous request to the server which replies with a chunk of HTML markup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JavaScript Rendering - retrieve the raw data that you’d like to display, then use that data to create and update HTML elements by manipulating the DOM directly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5" name="Text Placeholder 6"/>
          <p:cNvSpPr txBox="1">
            <a:spLocks/>
          </p:cNvSpPr>
          <p:nvPr/>
        </p:nvSpPr>
        <p:spPr>
          <a:xfrm>
            <a:off x="1066800" y="2647890"/>
            <a:ext cx="6781800" cy="40011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marL="0" indent="0" algn="l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000" b="1" kern="120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ea typeface="+mn-ea"/>
                <a:cs typeface="Consolas" pitchFamily="49" charset="0"/>
              </a:defRPr>
            </a:lvl1pPr>
            <a:lvl2pPr marL="63023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>
                  <a:lumMod val="60000"/>
                  <a:lumOff val="40000"/>
                </a:schemeClr>
              </a:buClr>
              <a:buFont typeface="Wingdings 2" pitchFamily="18" charset="2"/>
              <a:buChar char=""/>
              <a:defRPr sz="30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2233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>
                  <a:lumMod val="50000"/>
                </a:schemeClr>
              </a:buClr>
              <a:buFont typeface="Wingdings 2" pitchFamily="18" charset="2"/>
              <a:buChar char=""/>
              <a:defRPr sz="28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874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8BD52"/>
              </a:buClr>
              <a:buFont typeface="Wingdings 2" pitchFamily="18" charset="2"/>
              <a:buChar char=""/>
              <a:defRPr sz="26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6A6BD"/>
              </a:buClr>
              <a:buFont typeface="Wingdings 2" pitchFamily="18" charset="2"/>
              <a:buChar char=""/>
              <a:defRPr sz="24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1673352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11096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21408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22576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$("#container").load('ajax_content.html')</a:t>
            </a:r>
            <a:endParaRPr lang="en-US" dirty="0"/>
          </a:p>
        </p:txBody>
      </p:sp>
      <p:sp>
        <p:nvSpPr>
          <p:cNvPr id="6" name="Text Placeholder 6"/>
          <p:cNvSpPr txBox="1">
            <a:spLocks/>
          </p:cNvSpPr>
          <p:nvPr/>
        </p:nvSpPr>
        <p:spPr>
          <a:xfrm>
            <a:off x="1066800" y="5486400"/>
            <a:ext cx="6781800" cy="1015663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marL="0" indent="0" algn="l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000" b="1" kern="120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ea typeface="+mn-ea"/>
                <a:cs typeface="Consolas" pitchFamily="49" charset="0"/>
              </a:defRPr>
            </a:lvl1pPr>
            <a:lvl2pPr marL="63023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>
                  <a:lumMod val="60000"/>
                  <a:lumOff val="40000"/>
                </a:schemeClr>
              </a:buClr>
              <a:buFont typeface="Wingdings 2" pitchFamily="18" charset="2"/>
              <a:buChar char=""/>
              <a:defRPr sz="30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2233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>
                  <a:lumMod val="50000"/>
                </a:schemeClr>
              </a:buClr>
              <a:buFont typeface="Wingdings 2" pitchFamily="18" charset="2"/>
              <a:buChar char=""/>
              <a:defRPr sz="28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874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8BD52"/>
              </a:buClr>
              <a:buFont typeface="Wingdings 2" pitchFamily="18" charset="2"/>
              <a:buChar char=""/>
              <a:defRPr sz="26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6A6BD"/>
              </a:buClr>
              <a:buFont typeface="Wingdings 2" pitchFamily="18" charset="2"/>
              <a:buChar char=""/>
              <a:defRPr sz="24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1673352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11096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21408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22576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mtClean="0"/>
              <a:t>$.getJSON</a:t>
            </a:r>
            <a:r>
              <a:rPr smtClean="0">
                <a:effectLst/>
              </a:rPr>
              <a:t>(url [data], success(data</a:t>
            </a:r>
            <a:r>
              <a:rPr>
                <a:effectLst/>
              </a:rPr>
              <a:t>, textStatus, jqXHR</a:t>
            </a:r>
            <a:r>
              <a:rPr smtClean="0">
                <a:effectLst/>
              </a:rPr>
              <a:t>))</a:t>
            </a:r>
            <a:endParaRPr>
              <a:effectLst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mtClean="0"/>
              <a:t>JavaScript Rendering Example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6" name="Text Placeholder 6"/>
          <p:cNvSpPr txBox="1">
            <a:spLocks/>
          </p:cNvSpPr>
          <p:nvPr/>
        </p:nvSpPr>
        <p:spPr>
          <a:xfrm>
            <a:off x="1143000" y="1752600"/>
            <a:ext cx="6781800" cy="378565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marL="0" indent="0" algn="l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000" b="1" kern="120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ea typeface="+mn-ea"/>
                <a:cs typeface="Consolas" pitchFamily="49" charset="0"/>
              </a:defRPr>
            </a:lvl1pPr>
            <a:lvl2pPr marL="63023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>
                  <a:lumMod val="60000"/>
                  <a:lumOff val="40000"/>
                </a:schemeClr>
              </a:buClr>
              <a:buFont typeface="Wingdings 2" pitchFamily="18" charset="2"/>
              <a:buChar char=""/>
              <a:defRPr sz="30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2233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>
                  <a:lumMod val="50000"/>
                </a:schemeClr>
              </a:buClr>
              <a:buFont typeface="Wingdings 2" pitchFamily="18" charset="2"/>
              <a:buChar char=""/>
              <a:defRPr sz="28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874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8BD52"/>
              </a:buClr>
              <a:buFont typeface="Wingdings 2" pitchFamily="18" charset="2"/>
              <a:buChar char=""/>
              <a:defRPr sz="26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6A6BD"/>
              </a:buClr>
              <a:buFont typeface="Wingdings 2" pitchFamily="18" charset="2"/>
              <a:buChar char=""/>
              <a:defRPr sz="24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1673352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11096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21408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22576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$.getJSON('ajax/test.json', function(data) {</a:t>
            </a:r>
          </a:p>
          <a:p>
            <a:r>
              <a:rPr smtClean="0"/>
              <a:t>	var </a:t>
            </a:r>
            <a:r>
              <a:t>items = [];</a:t>
            </a:r>
          </a:p>
          <a:p>
            <a:r>
              <a:rPr smtClean="0"/>
              <a:t>	$.</a:t>
            </a:r>
            <a:r>
              <a:t>each(data, function(key, val) {</a:t>
            </a:r>
          </a:p>
          <a:p>
            <a:r>
              <a:rPr smtClean="0"/>
              <a:t>	items.push</a:t>
            </a:r>
            <a:r>
              <a:t>('&lt;li id="' + key + '"&gt;' + </a:t>
            </a:r>
            <a:r>
              <a:rPr/>
              <a:t>val </a:t>
            </a:r>
            <a:r>
              <a:rPr smtClean="0"/>
              <a:t>	+ </a:t>
            </a:r>
            <a:r>
              <a:t>'&lt;/li&gt;');</a:t>
            </a:r>
          </a:p>
          <a:p>
            <a:r>
              <a:t>});</a:t>
            </a:r>
          </a:p>
          <a:p>
            <a:r>
              <a:t>$('&lt;ul/&gt;', {</a:t>
            </a:r>
          </a:p>
          <a:p>
            <a:r>
              <a:rPr smtClean="0"/>
              <a:t>	'class</a:t>
            </a:r>
            <a:r>
              <a:t>': 'my-new-list',</a:t>
            </a:r>
          </a:p>
          <a:p>
            <a:r>
              <a:rPr smtClean="0"/>
              <a:t>	html</a:t>
            </a:r>
            <a:r>
              <a:t>: items.join('')</a:t>
            </a:r>
          </a:p>
          <a:p>
            <a:r>
              <a:rPr smtClean="0"/>
              <a:t>	}).</a:t>
            </a:r>
            <a:r>
              <a:t>appendTo('body');</a:t>
            </a:r>
          </a:p>
          <a:p>
            <a:r>
              <a:t>});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09600" y="1295400"/>
            <a:ext cx="7924800" cy="685800"/>
          </a:xfrm>
        </p:spPr>
        <p:txBody>
          <a:bodyPr/>
          <a:lstStyle/>
          <a:p>
            <a:r>
              <a:rPr lang="en-US" dirty="0" smtClean="0"/>
              <a:t>ASP.NET MVC AJAX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686800" y="6553200"/>
            <a:ext cx="4572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pic>
        <p:nvPicPr>
          <p:cNvPr id="2050" name="Picture 2" descr="C:\Users\paveldk\Desktop\y-u-no-use-async-upload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62200" y="2438400"/>
            <a:ext cx="4468813" cy="335161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76381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ASP.NET AJAX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framework for building cross-platform, Ajax-enabled, rich web applications</a:t>
            </a:r>
          </a:p>
          <a:p>
            <a:r>
              <a:rPr lang="en-US" dirty="0" smtClean="0"/>
              <a:t>Included with .NET 3.5 and Visual Studio 2008 as part of ASP.NET</a:t>
            </a:r>
          </a:p>
          <a:p>
            <a:r>
              <a:rPr lang="en-US" dirty="0" smtClean="0"/>
              <a:t>Built on top of ASP.NET 2.0 with Visual Studio 2005 support</a:t>
            </a:r>
            <a:endParaRPr lang="en-US" dirty="0">
              <a:solidFill>
                <a:srgbClr val="FF9933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857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52400"/>
            <a:ext cx="7086600" cy="838200"/>
          </a:xfrm>
        </p:spPr>
        <p:txBody>
          <a:bodyPr/>
          <a:lstStyle/>
          <a:p>
            <a:r>
              <a:rPr lang="en-US" dirty="0" smtClean="0"/>
              <a:t>ASP.NET MVC AJAX</a:t>
            </a:r>
            <a:br>
              <a:rPr lang="en-US" dirty="0" smtClean="0"/>
            </a:br>
            <a:r>
              <a:rPr lang="en-US" dirty="0" err="1" smtClean="0"/>
              <a:t>PartialView</a:t>
            </a:r>
            <a:endParaRPr lang="en-US" dirty="0"/>
          </a:p>
        </p:txBody>
      </p:sp>
      <p:sp>
        <p:nvSpPr>
          <p:cNvPr id="24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5791200"/>
          </a:xfrm>
        </p:spPr>
        <p:txBody>
          <a:bodyPr/>
          <a:lstStyle/>
          <a:p>
            <a:r>
              <a:rPr lang="en-US" dirty="0" smtClean="0"/>
              <a:t>Updating just with the information on the page, not the layout </a:t>
            </a:r>
          </a:p>
          <a:p>
            <a:r>
              <a:rPr lang="en-US" dirty="0" smtClean="0"/>
              <a:t>Achieved through </a:t>
            </a:r>
            <a:r>
              <a:rPr lang="en-US" dirty="0" err="1" smtClean="0"/>
              <a:t>Controller.PartialView</a:t>
            </a:r>
            <a:r>
              <a:rPr lang="en-US" dirty="0" smtClean="0"/>
              <a:t>() </a:t>
            </a:r>
          </a:p>
          <a:p>
            <a:r>
              <a:rPr lang="en-US" dirty="0" err="1" smtClean="0"/>
              <a:t>PartialView</a:t>
            </a:r>
            <a:r>
              <a:rPr lang="en-US" dirty="0" smtClean="0"/>
              <a:t>() can use the same view that View() depends on </a:t>
            </a:r>
          </a:p>
          <a:p>
            <a:r>
              <a:rPr lang="en-US" dirty="0" smtClean="0"/>
              <a:t>Since Partial Views do not execute the layout, you may have to include some dependencies(CSS, JS) directly</a:t>
            </a:r>
            <a:endParaRPr lang="en-US" dirty="0">
              <a:solidFill>
                <a:srgbClr val="FF9933"/>
              </a:solidFill>
            </a:endParaRPr>
          </a:p>
          <a:p>
            <a:endParaRPr lang="en-US" dirty="0" smtClean="0"/>
          </a:p>
        </p:txBody>
      </p:sp>
      <p:sp>
        <p:nvSpPr>
          <p:cNvPr id="27" name="Text Placeholder 6"/>
          <p:cNvSpPr txBox="1">
            <a:spLocks/>
          </p:cNvSpPr>
          <p:nvPr/>
        </p:nvSpPr>
        <p:spPr>
          <a:xfrm>
            <a:off x="1143000" y="5867400"/>
            <a:ext cx="6781800" cy="40011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marL="0" indent="0" algn="l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000" b="1" kern="120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ea typeface="+mn-ea"/>
                <a:cs typeface="Consolas" pitchFamily="49" charset="0"/>
              </a:defRPr>
            </a:lvl1pPr>
            <a:lvl2pPr marL="63023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>
                  <a:lumMod val="60000"/>
                  <a:lumOff val="40000"/>
                </a:schemeClr>
              </a:buClr>
              <a:buFont typeface="Wingdings 2" pitchFamily="18" charset="2"/>
              <a:buChar char=""/>
              <a:defRPr sz="30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2233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>
                  <a:lumMod val="50000"/>
                </a:schemeClr>
              </a:buClr>
              <a:buFont typeface="Wingdings 2" pitchFamily="18" charset="2"/>
              <a:buChar char=""/>
              <a:defRPr sz="28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874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8BD52"/>
              </a:buClr>
              <a:buFont typeface="Wingdings 2" pitchFamily="18" charset="2"/>
              <a:buChar char=""/>
              <a:defRPr sz="26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6A6BD"/>
              </a:buClr>
              <a:buFont typeface="Wingdings 2" pitchFamily="18" charset="2"/>
              <a:buChar char=""/>
              <a:defRPr sz="24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1673352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11096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21408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22576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return </a:t>
            </a:r>
            <a:r>
              <a:rPr lang="en-GB" dirty="0" err="1" smtClean="0"/>
              <a:t>PartialView</a:t>
            </a:r>
            <a:r>
              <a:rPr lang="en-GB" dirty="0" smtClean="0"/>
              <a:t>(View, data);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36222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52400"/>
            <a:ext cx="7086600" cy="838200"/>
          </a:xfrm>
        </p:spPr>
        <p:txBody>
          <a:bodyPr/>
          <a:lstStyle/>
          <a:p>
            <a:r>
              <a:rPr lang="en-US" dirty="0" smtClean="0"/>
              <a:t>ASP.NET MVC AJAX</a:t>
            </a:r>
            <a:br>
              <a:rPr lang="en-US" dirty="0" smtClean="0"/>
            </a:br>
            <a:r>
              <a:rPr lang="en-US" dirty="0" smtClean="0"/>
              <a:t>Rendering JSON Data</a:t>
            </a:r>
            <a:endParaRPr lang="en-US" dirty="0"/>
          </a:p>
        </p:txBody>
      </p:sp>
      <p:sp>
        <p:nvSpPr>
          <p:cNvPr id="24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686800" cy="5791200"/>
          </a:xfrm>
        </p:spPr>
        <p:txBody>
          <a:bodyPr/>
          <a:lstStyle/>
          <a:p>
            <a:r>
              <a:rPr lang="en-US" dirty="0" smtClean="0"/>
              <a:t>In order to implement a client-side rendering you must have 2 things:</a:t>
            </a:r>
          </a:p>
          <a:p>
            <a:pPr lvl="1"/>
            <a:r>
              <a:rPr lang="en-US" dirty="0" smtClean="0">
                <a:solidFill>
                  <a:srgbClr val="F4FCD8"/>
                </a:solidFill>
              </a:rPr>
              <a:t>a server that can produce a serialized data</a:t>
            </a:r>
          </a:p>
          <a:p>
            <a:pPr lvl="1"/>
            <a:r>
              <a:rPr lang="en-US" dirty="0" smtClean="0">
                <a:solidFill>
                  <a:srgbClr val="F4FCD8"/>
                </a:solidFill>
              </a:rPr>
              <a:t>A client-side logic that knows how to parse the serialized data and convert it into HTML markup</a:t>
            </a:r>
          </a:p>
          <a:p>
            <a:r>
              <a:rPr lang="en-US" dirty="0" err="1" smtClean="0"/>
              <a:t>JsonResult</a:t>
            </a:r>
            <a:r>
              <a:rPr lang="en-US" dirty="0" smtClean="0"/>
              <a:t> action result – native ASP.NET MVC JSON support </a:t>
            </a:r>
          </a:p>
          <a:p>
            <a:endParaRPr lang="en-US" dirty="0">
              <a:solidFill>
                <a:srgbClr val="F4FCD8"/>
              </a:solidFill>
            </a:endParaRPr>
          </a:p>
          <a:p>
            <a:endParaRPr lang="en-US" dirty="0" smtClean="0"/>
          </a:p>
        </p:txBody>
      </p:sp>
      <p:sp>
        <p:nvSpPr>
          <p:cNvPr id="4" name="Text Placeholder 6"/>
          <p:cNvSpPr txBox="1">
            <a:spLocks/>
          </p:cNvSpPr>
          <p:nvPr/>
        </p:nvSpPr>
        <p:spPr>
          <a:xfrm>
            <a:off x="1143000" y="5867400"/>
            <a:ext cx="6781800" cy="40011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marL="0" indent="0" algn="l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000" b="1" kern="120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ea typeface="+mn-ea"/>
                <a:cs typeface="Consolas" pitchFamily="49" charset="0"/>
              </a:defRPr>
            </a:lvl1pPr>
            <a:lvl2pPr marL="63023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>
                  <a:lumMod val="60000"/>
                  <a:lumOff val="40000"/>
                </a:schemeClr>
              </a:buClr>
              <a:buFont typeface="Wingdings 2" pitchFamily="18" charset="2"/>
              <a:buChar char=""/>
              <a:defRPr sz="30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2233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>
                  <a:lumMod val="50000"/>
                </a:schemeClr>
              </a:buClr>
              <a:buFont typeface="Wingdings 2" pitchFamily="18" charset="2"/>
              <a:buChar char=""/>
              <a:defRPr sz="28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874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8BD52"/>
              </a:buClr>
              <a:buFont typeface="Wingdings 2" pitchFamily="18" charset="2"/>
              <a:buChar char=""/>
              <a:defRPr sz="26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6A6BD"/>
              </a:buClr>
              <a:buFont typeface="Wingdings 2" pitchFamily="18" charset="2"/>
              <a:buChar char=""/>
              <a:defRPr sz="24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1673352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11096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21408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22576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return </a:t>
            </a:r>
            <a:r>
              <a:rPr lang="en-GB" dirty="0" err="1" smtClean="0"/>
              <a:t>Json</a:t>
            </a:r>
            <a:r>
              <a:rPr lang="en-GB" dirty="0" smtClean="0"/>
              <a:t>(data, </a:t>
            </a:r>
            <a:r>
              <a:rPr lang="en-GB" dirty="0" err="1" smtClean="0"/>
              <a:t>JsonRequestBehavior</a:t>
            </a:r>
            <a:r>
              <a:rPr lang="en-GB" dirty="0" smtClean="0"/>
              <a:t>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6222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52400"/>
            <a:ext cx="7086600" cy="838200"/>
          </a:xfrm>
        </p:spPr>
        <p:txBody>
          <a:bodyPr/>
          <a:lstStyle/>
          <a:p>
            <a:r>
              <a:rPr lang="en-US" dirty="0" smtClean="0"/>
              <a:t>ASP.NET MVC AJAX</a:t>
            </a:r>
            <a:br>
              <a:rPr lang="en-US" dirty="0" smtClean="0"/>
            </a:br>
            <a:r>
              <a:rPr lang="en-US" dirty="0" smtClean="0"/>
              <a:t>Requesting Data</a:t>
            </a:r>
            <a:endParaRPr lang="en-US" dirty="0"/>
          </a:p>
        </p:txBody>
      </p:sp>
      <p:sp>
        <p:nvSpPr>
          <p:cNvPr id="24" name="Content Placeholder 2"/>
          <p:cNvSpPr>
            <a:spLocks noGrp="1"/>
          </p:cNvSpPr>
          <p:nvPr>
            <p:ph idx="1"/>
          </p:nvPr>
        </p:nvSpPr>
        <p:spPr>
          <a:xfrm>
            <a:off x="228600" y="1143000"/>
            <a:ext cx="8686800" cy="5791200"/>
          </a:xfrm>
        </p:spPr>
        <p:txBody>
          <a:bodyPr/>
          <a:lstStyle/>
          <a:p>
            <a:r>
              <a:rPr lang="en-US" dirty="0" smtClean="0"/>
              <a:t>$.</a:t>
            </a:r>
            <a:r>
              <a:rPr lang="en-US" dirty="0" err="1" smtClean="0"/>
              <a:t>ajax</a:t>
            </a:r>
            <a:r>
              <a:rPr lang="en-US" dirty="0" smtClean="0"/>
              <a:t>();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Ajax class</a:t>
            </a:r>
          </a:p>
          <a:p>
            <a:endParaRPr lang="en-US" dirty="0">
              <a:solidFill>
                <a:srgbClr val="F4FCD8"/>
              </a:solidFill>
            </a:endParaRPr>
          </a:p>
          <a:p>
            <a:endParaRPr lang="en-US" dirty="0" smtClean="0"/>
          </a:p>
        </p:txBody>
      </p:sp>
      <p:sp>
        <p:nvSpPr>
          <p:cNvPr id="4" name="Text Placeholder 6"/>
          <p:cNvSpPr txBox="1">
            <a:spLocks/>
          </p:cNvSpPr>
          <p:nvPr/>
        </p:nvSpPr>
        <p:spPr>
          <a:xfrm>
            <a:off x="1143000" y="4154031"/>
            <a:ext cx="6781800" cy="224676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marL="0" indent="0" algn="l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000" b="1" kern="120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ea typeface="+mn-ea"/>
                <a:cs typeface="Consolas" pitchFamily="49" charset="0"/>
              </a:defRPr>
            </a:lvl1pPr>
            <a:lvl2pPr marL="63023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>
                  <a:lumMod val="60000"/>
                  <a:lumOff val="40000"/>
                </a:schemeClr>
              </a:buClr>
              <a:buFont typeface="Wingdings 2" pitchFamily="18" charset="2"/>
              <a:buChar char=""/>
              <a:defRPr sz="30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2233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>
                  <a:lumMod val="50000"/>
                </a:schemeClr>
              </a:buClr>
              <a:buFont typeface="Wingdings 2" pitchFamily="18" charset="2"/>
              <a:buChar char=""/>
              <a:defRPr sz="28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874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8BD52"/>
              </a:buClr>
              <a:buFont typeface="Wingdings 2" pitchFamily="18" charset="2"/>
              <a:buChar char=""/>
              <a:defRPr sz="26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6A6BD"/>
              </a:buClr>
              <a:buFont typeface="Wingdings 2" pitchFamily="18" charset="2"/>
              <a:buChar char=""/>
              <a:defRPr sz="24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1673352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11096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21408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22576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err="1" smtClean="0"/>
              <a:t>Ajax.ActionLink</a:t>
            </a:r>
            <a:r>
              <a:rPr lang="en-GB" dirty="0" smtClean="0"/>
              <a:t>(“Click here”, “Action”,</a:t>
            </a:r>
          </a:p>
          <a:p>
            <a:r>
              <a:rPr lang="en-GB" dirty="0"/>
              <a:t>	</a:t>
            </a:r>
            <a:r>
              <a:rPr lang="en-GB" dirty="0" smtClean="0"/>
              <a:t>new </a:t>
            </a:r>
            <a:r>
              <a:rPr lang="en-GB" dirty="0" err="1" smtClean="0"/>
              <a:t>AjaxOptions</a:t>
            </a:r>
            <a:endParaRPr lang="en-GB" dirty="0" smtClean="0"/>
          </a:p>
          <a:p>
            <a:r>
              <a:rPr lang="en-GB" dirty="0" smtClean="0"/>
              <a:t>	{</a:t>
            </a:r>
          </a:p>
          <a:p>
            <a:r>
              <a:rPr lang="en-US" dirty="0"/>
              <a:t>	</a:t>
            </a:r>
            <a:r>
              <a:rPr lang="en-US" dirty="0" err="1" smtClean="0"/>
              <a:t>UpdateTargetId</a:t>
            </a:r>
            <a:r>
              <a:rPr lang="en-US" dirty="0" smtClean="0"/>
              <a:t>=“trainers”,</a:t>
            </a:r>
          </a:p>
          <a:p>
            <a:r>
              <a:rPr lang="en-US" dirty="0" smtClean="0"/>
              <a:t>	</a:t>
            </a:r>
            <a:r>
              <a:rPr lang="en-US" dirty="0" err="1" smtClean="0"/>
              <a:t>HttpMethod</a:t>
            </a:r>
            <a:r>
              <a:rPr lang="en-US" dirty="0" smtClean="0"/>
              <a:t>=“Get”, //default</a:t>
            </a:r>
          </a:p>
          <a:p>
            <a:r>
              <a:rPr lang="en-US" dirty="0"/>
              <a:t>	</a:t>
            </a:r>
            <a:r>
              <a:rPr lang="en-US" dirty="0" err="1" smtClean="0"/>
              <a:t>InsertionMode</a:t>
            </a:r>
            <a:r>
              <a:rPr lang="en-US" dirty="0" smtClean="0"/>
              <a:t>=</a:t>
            </a:r>
            <a:r>
              <a:rPr lang="en-US" dirty="0" err="1" smtClean="0"/>
              <a:t>InsertionMode.Replace</a:t>
            </a:r>
            <a:r>
              <a:rPr lang="en-US" dirty="0" smtClean="0"/>
              <a:t>//def</a:t>
            </a:r>
            <a:endParaRPr lang="en-GB" dirty="0" smtClean="0"/>
          </a:p>
          <a:p>
            <a:r>
              <a:rPr lang="en-GB" dirty="0" smtClean="0"/>
              <a:t>	})</a:t>
            </a:r>
            <a:endParaRPr lang="en-US" dirty="0"/>
          </a:p>
        </p:txBody>
      </p:sp>
      <p:sp>
        <p:nvSpPr>
          <p:cNvPr id="5" name="Text Placeholder 6"/>
          <p:cNvSpPr txBox="1">
            <a:spLocks/>
          </p:cNvSpPr>
          <p:nvPr/>
        </p:nvSpPr>
        <p:spPr>
          <a:xfrm>
            <a:off x="1143000" y="2266890"/>
            <a:ext cx="6781800" cy="40011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marL="0" indent="0" algn="l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000" b="1" kern="120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ea typeface="+mn-ea"/>
                <a:cs typeface="Consolas" pitchFamily="49" charset="0"/>
              </a:defRPr>
            </a:lvl1pPr>
            <a:lvl2pPr marL="63023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>
                  <a:lumMod val="60000"/>
                  <a:lumOff val="40000"/>
                </a:schemeClr>
              </a:buClr>
              <a:buFont typeface="Wingdings 2" pitchFamily="18" charset="2"/>
              <a:buChar char=""/>
              <a:defRPr sz="30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2233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>
                  <a:lumMod val="50000"/>
                </a:schemeClr>
              </a:buClr>
              <a:buFont typeface="Wingdings 2" pitchFamily="18" charset="2"/>
              <a:buChar char=""/>
              <a:defRPr sz="28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874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8BD52"/>
              </a:buClr>
              <a:buFont typeface="Wingdings 2" pitchFamily="18" charset="2"/>
              <a:buChar char=""/>
              <a:defRPr sz="26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6A6BD"/>
              </a:buClr>
              <a:buFont typeface="Wingdings 2" pitchFamily="18" charset="2"/>
              <a:buChar char=""/>
              <a:defRPr sz="24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1673352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11096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21408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22576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$.</a:t>
            </a:r>
            <a:r>
              <a:rPr lang="en-US" dirty="0" err="1" smtClean="0"/>
              <a:t>ajax</a:t>
            </a:r>
            <a:r>
              <a:rPr lang="en-US" dirty="0" smtClean="0"/>
              <a:t>({</a:t>
            </a:r>
            <a:r>
              <a:rPr lang="en-US" dirty="0" err="1" smtClean="0"/>
              <a:t>url</a:t>
            </a:r>
            <a:r>
              <a:rPr lang="en-US" dirty="0" smtClean="0"/>
              <a:t>: “</a:t>
            </a:r>
            <a:r>
              <a:rPr lang="en-US" dirty="0" err="1" smtClean="0"/>
              <a:t>MyRoute</a:t>
            </a:r>
            <a:r>
              <a:rPr lang="en-US" dirty="0" smtClean="0"/>
              <a:t>”, success: function()});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6222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09600" y="2743200"/>
            <a:ext cx="7924800" cy="685800"/>
          </a:xfrm>
        </p:spPr>
        <p:txBody>
          <a:bodyPr/>
          <a:lstStyle/>
          <a:p>
            <a:r>
              <a:rPr lang="en-US" dirty="0" smtClean="0"/>
              <a:t>Demo: ASP.NET MVC AJAX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686800" y="6553200"/>
            <a:ext cx="4572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6381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Reusable ASP.NET AJAX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31" name="Content Placeholder 4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5791200"/>
          </a:xfrm>
        </p:spPr>
        <p:txBody>
          <a:bodyPr/>
          <a:lstStyle/>
          <a:p>
            <a:r>
              <a:rPr lang="en-US" dirty="0" smtClean="0"/>
              <a:t>Breaking the MVC concepts</a:t>
            </a:r>
          </a:p>
          <a:p>
            <a:r>
              <a:rPr lang="en-GB" dirty="0" err="1" smtClean="0"/>
              <a:t>Request.IsAjaxRequest</a:t>
            </a:r>
            <a:r>
              <a:rPr lang="en-GB" dirty="0" smtClean="0"/>
              <a:t>() extension method lets you know whether or not the request is an AJAX request – checking the header of the request</a:t>
            </a:r>
          </a:p>
          <a:p>
            <a:r>
              <a:rPr lang="en-GB" dirty="0" smtClean="0"/>
              <a:t>If you ever need to trick ASP.NET MVC into thinking that request is an AJAX request, simply add the X-Requested-With: </a:t>
            </a:r>
            <a:r>
              <a:rPr lang="en-GB" dirty="0" err="1" smtClean="0"/>
              <a:t>XMLHttpRequest</a:t>
            </a:r>
            <a:r>
              <a:rPr lang="en-GB" dirty="0" smtClean="0"/>
              <a:t> HTTP header.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799300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Reusable ASP.NET AJAX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31" name="Content Placeholder 4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5791200"/>
          </a:xfrm>
        </p:spPr>
        <p:txBody>
          <a:bodyPr/>
          <a:lstStyle/>
          <a:p>
            <a:r>
              <a:rPr lang="en-US" dirty="0" smtClean="0"/>
              <a:t>Checking for expected JSON result</a:t>
            </a:r>
          </a:p>
        </p:txBody>
      </p:sp>
      <p:sp>
        <p:nvSpPr>
          <p:cNvPr id="5" name="Text Placeholder 6"/>
          <p:cNvSpPr txBox="1">
            <a:spLocks/>
          </p:cNvSpPr>
          <p:nvPr/>
        </p:nvSpPr>
        <p:spPr>
          <a:xfrm>
            <a:off x="304800" y="1600200"/>
            <a:ext cx="8610600" cy="255454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marL="0" indent="0" algn="l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000" b="1" kern="120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ea typeface="+mn-ea"/>
                <a:cs typeface="Consolas" pitchFamily="49" charset="0"/>
              </a:defRPr>
            </a:lvl1pPr>
            <a:lvl2pPr marL="63023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>
                  <a:lumMod val="60000"/>
                  <a:lumOff val="40000"/>
                </a:schemeClr>
              </a:buClr>
              <a:buFont typeface="Wingdings 2" pitchFamily="18" charset="2"/>
              <a:buChar char=""/>
              <a:defRPr sz="30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2233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>
                  <a:lumMod val="50000"/>
                </a:schemeClr>
              </a:buClr>
              <a:buFont typeface="Wingdings 2" pitchFamily="18" charset="2"/>
              <a:buChar char=""/>
              <a:defRPr sz="28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874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8BD52"/>
              </a:buClr>
              <a:buFont typeface="Wingdings 2" pitchFamily="18" charset="2"/>
              <a:buChar char=""/>
              <a:defRPr sz="26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6A6BD"/>
              </a:buClr>
              <a:buFont typeface="Wingdings 2" pitchFamily="18" charset="2"/>
              <a:buChar char=""/>
              <a:defRPr sz="24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1673352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11096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21408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22576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public static class </a:t>
            </a:r>
            <a:r>
              <a:rPr lang="en-GB" dirty="0" err="1"/>
              <a:t>JsonRequestExtensions</a:t>
            </a:r>
            <a:r>
              <a:rPr lang="en-GB" dirty="0"/>
              <a:t> </a:t>
            </a:r>
            <a:endParaRPr lang="en-GB" dirty="0" smtClean="0"/>
          </a:p>
          <a:p>
            <a:r>
              <a:rPr lang="en-GB" dirty="0" smtClean="0"/>
              <a:t>{ </a:t>
            </a:r>
          </a:p>
          <a:p>
            <a:r>
              <a:rPr lang="en-GB" dirty="0" smtClean="0"/>
              <a:t>public </a:t>
            </a:r>
            <a:r>
              <a:rPr lang="en-GB" dirty="0"/>
              <a:t>static </a:t>
            </a:r>
            <a:r>
              <a:rPr lang="en-GB" dirty="0" err="1"/>
              <a:t>bool</a:t>
            </a:r>
            <a:r>
              <a:rPr lang="en-GB" dirty="0"/>
              <a:t> </a:t>
            </a:r>
            <a:r>
              <a:rPr lang="en-GB" dirty="0" err="1"/>
              <a:t>IsJsonRequest</a:t>
            </a:r>
            <a:r>
              <a:rPr lang="en-GB" dirty="0"/>
              <a:t>(this </a:t>
            </a:r>
            <a:r>
              <a:rPr lang="en-GB" dirty="0" err="1" smtClean="0"/>
              <a:t>HttpRequestBase</a:t>
            </a:r>
            <a:r>
              <a:rPr lang="en-GB" dirty="0" smtClean="0"/>
              <a:t> 								request</a:t>
            </a:r>
            <a:r>
              <a:rPr lang="en-GB" dirty="0"/>
              <a:t>) </a:t>
            </a:r>
            <a:endParaRPr lang="en-GB" dirty="0" smtClean="0"/>
          </a:p>
          <a:p>
            <a:r>
              <a:rPr lang="en-GB" dirty="0"/>
              <a:t>	</a:t>
            </a:r>
            <a:r>
              <a:rPr lang="en-GB" dirty="0" smtClean="0"/>
              <a:t>{ </a:t>
            </a:r>
          </a:p>
          <a:p>
            <a:r>
              <a:rPr lang="en-GB" dirty="0" smtClean="0"/>
              <a:t>	return </a:t>
            </a:r>
            <a:r>
              <a:rPr lang="en-GB" dirty="0" err="1"/>
              <a:t>string.Equals</a:t>
            </a:r>
            <a:r>
              <a:rPr lang="en-GB" dirty="0"/>
              <a:t>(request["format"], "</a:t>
            </a:r>
            <a:r>
              <a:rPr lang="en-GB" dirty="0" err="1"/>
              <a:t>json</a:t>
            </a:r>
            <a:r>
              <a:rPr lang="en-GB" dirty="0"/>
              <a:t>"); </a:t>
            </a:r>
            <a:endParaRPr lang="en-GB" dirty="0" smtClean="0"/>
          </a:p>
          <a:p>
            <a:r>
              <a:rPr lang="en-GB" dirty="0"/>
              <a:t>	</a:t>
            </a:r>
            <a:r>
              <a:rPr lang="en-GB" dirty="0" smtClean="0"/>
              <a:t>} </a:t>
            </a:r>
          </a:p>
          <a:p>
            <a:r>
              <a:rPr lang="en-GB" dirty="0" smtClean="0"/>
              <a:t>}</a:t>
            </a:r>
            <a:endParaRPr lang="en-US" dirty="0"/>
          </a:p>
        </p:txBody>
      </p:sp>
      <p:sp>
        <p:nvSpPr>
          <p:cNvPr id="6" name="Text Placeholder 6"/>
          <p:cNvSpPr txBox="1">
            <a:spLocks/>
          </p:cNvSpPr>
          <p:nvPr/>
        </p:nvSpPr>
        <p:spPr>
          <a:xfrm>
            <a:off x="304800" y="4702314"/>
            <a:ext cx="8610600" cy="707886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marL="0" indent="0" algn="l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000" b="1" kern="120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ea typeface="+mn-ea"/>
                <a:cs typeface="Consolas" pitchFamily="49" charset="0"/>
              </a:defRPr>
            </a:lvl1pPr>
            <a:lvl2pPr marL="63023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>
                  <a:lumMod val="60000"/>
                  <a:lumOff val="40000"/>
                </a:schemeClr>
              </a:buClr>
              <a:buFont typeface="Wingdings 2" pitchFamily="18" charset="2"/>
              <a:buChar char=""/>
              <a:defRPr sz="30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2233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>
                  <a:lumMod val="50000"/>
                </a:schemeClr>
              </a:buClr>
              <a:buFont typeface="Wingdings 2" pitchFamily="18" charset="2"/>
              <a:buChar char=""/>
              <a:defRPr sz="28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874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8BD52"/>
              </a:buClr>
              <a:buFont typeface="Wingdings 2" pitchFamily="18" charset="2"/>
              <a:buChar char=""/>
              <a:defRPr sz="26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6A6BD"/>
              </a:buClr>
              <a:buFont typeface="Wingdings 2" pitchFamily="18" charset="2"/>
              <a:buChar char=""/>
              <a:defRPr sz="24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1673352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11096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21408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22576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if (</a:t>
            </a:r>
            <a:r>
              <a:rPr lang="en-GB" dirty="0" err="1"/>
              <a:t>Request.IsJsonRequest</a:t>
            </a:r>
            <a:r>
              <a:rPr lang="en-GB" dirty="0" smtClean="0"/>
              <a:t>())</a:t>
            </a:r>
          </a:p>
          <a:p>
            <a:r>
              <a:rPr lang="en-GB" dirty="0"/>
              <a:t>	</a:t>
            </a:r>
            <a:r>
              <a:rPr lang="en-GB" dirty="0" smtClean="0"/>
              <a:t> </a:t>
            </a:r>
            <a:r>
              <a:rPr lang="en-GB" dirty="0"/>
              <a:t>return </a:t>
            </a:r>
            <a:r>
              <a:rPr lang="en-GB" dirty="0" err="1"/>
              <a:t>Json</a:t>
            </a:r>
            <a:r>
              <a:rPr lang="en-GB" dirty="0"/>
              <a:t>(auction);</a:t>
            </a: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2799300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CCFF33"/>
                </a:solidFill>
              </a:rPr>
              <a:t>MVC AJAX POST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POST request with AJAX</a:t>
            </a:r>
          </a:p>
          <a:p>
            <a:endParaRPr lang="en-US" dirty="0" smtClean="0"/>
          </a:p>
        </p:txBody>
      </p:sp>
      <p:sp>
        <p:nvSpPr>
          <p:cNvPr id="6" name="Text Placeholder 6"/>
          <p:cNvSpPr txBox="1">
            <a:spLocks/>
          </p:cNvSpPr>
          <p:nvPr/>
        </p:nvSpPr>
        <p:spPr>
          <a:xfrm>
            <a:off x="304800" y="2514600"/>
            <a:ext cx="8610600" cy="255454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marL="0" indent="0" algn="l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000" b="1" kern="120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ea typeface="+mn-ea"/>
                <a:cs typeface="Consolas" pitchFamily="49" charset="0"/>
              </a:defRPr>
            </a:lvl1pPr>
            <a:lvl2pPr marL="63023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>
                  <a:lumMod val="60000"/>
                  <a:lumOff val="40000"/>
                </a:schemeClr>
              </a:buClr>
              <a:buFont typeface="Wingdings 2" pitchFamily="18" charset="2"/>
              <a:buChar char=""/>
              <a:defRPr sz="30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2233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>
                  <a:lumMod val="50000"/>
                </a:schemeClr>
              </a:buClr>
              <a:buFont typeface="Wingdings 2" pitchFamily="18" charset="2"/>
              <a:buChar char=""/>
              <a:defRPr sz="28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874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8BD52"/>
              </a:buClr>
              <a:buFont typeface="Wingdings 2" pitchFamily="18" charset="2"/>
              <a:buChar char=""/>
              <a:defRPr sz="26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6A6BD"/>
              </a:buClr>
              <a:buFont typeface="Wingdings 2" pitchFamily="18" charset="2"/>
              <a:buChar char=""/>
              <a:defRPr sz="24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1673352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11096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21408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22576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@using (</a:t>
            </a:r>
            <a:r>
              <a:rPr lang="en-GB" dirty="0" err="1"/>
              <a:t>Ajax.BeginForm</a:t>
            </a:r>
            <a:r>
              <a:rPr lang="en-GB" dirty="0"/>
              <a:t>(new </a:t>
            </a:r>
            <a:r>
              <a:rPr lang="en-GB" dirty="0" err="1"/>
              <a:t>AjaxOptions</a:t>
            </a:r>
            <a:r>
              <a:rPr lang="en-GB" dirty="0"/>
              <a:t> { </a:t>
            </a:r>
            <a:r>
              <a:rPr lang="en-GB" dirty="0" err="1"/>
              <a:t>UpdateTargetId</a:t>
            </a:r>
            <a:r>
              <a:rPr lang="en-GB" dirty="0"/>
              <a:t> = "result", </a:t>
            </a:r>
            <a:r>
              <a:rPr lang="en-GB" dirty="0" err="1"/>
              <a:t>HttpMethod</a:t>
            </a:r>
            <a:r>
              <a:rPr lang="en-GB" dirty="0"/>
              <a:t>="POST", </a:t>
            </a:r>
            <a:r>
              <a:rPr lang="en-GB" dirty="0" err="1"/>
              <a:t>InsertionMode</a:t>
            </a:r>
            <a:r>
              <a:rPr lang="en-GB" dirty="0"/>
              <a:t>=</a:t>
            </a:r>
            <a:r>
              <a:rPr lang="en-GB" dirty="0" err="1"/>
              <a:t>InsertionMode.InsertAfter</a:t>
            </a:r>
            <a:r>
              <a:rPr lang="en-GB" dirty="0"/>
              <a:t> }))</a:t>
            </a:r>
          </a:p>
          <a:p>
            <a:r>
              <a:rPr lang="en-GB" dirty="0"/>
              <a:t>{</a:t>
            </a:r>
          </a:p>
          <a:p>
            <a:r>
              <a:rPr lang="en-GB" dirty="0"/>
              <a:t>    @</a:t>
            </a:r>
            <a:r>
              <a:rPr lang="en-GB" dirty="0" err="1"/>
              <a:t>Html.EditorFor</a:t>
            </a:r>
            <a:r>
              <a:rPr lang="en-GB" dirty="0"/>
              <a:t>(x =&gt; </a:t>
            </a:r>
            <a:r>
              <a:rPr lang="en-GB" dirty="0" err="1"/>
              <a:t>x.TrainerName</a:t>
            </a:r>
            <a:r>
              <a:rPr lang="en-GB" dirty="0"/>
              <a:t>)</a:t>
            </a:r>
          </a:p>
          <a:p>
            <a:r>
              <a:rPr lang="en-GB" dirty="0"/>
              <a:t>    @</a:t>
            </a:r>
            <a:r>
              <a:rPr lang="en-GB" dirty="0" err="1"/>
              <a:t>Html.EditorFor</a:t>
            </a:r>
            <a:r>
              <a:rPr lang="en-GB" dirty="0"/>
              <a:t>(x =&gt; </a:t>
            </a:r>
            <a:r>
              <a:rPr lang="en-GB" dirty="0" err="1"/>
              <a:t>x.TrainersBlogs</a:t>
            </a:r>
            <a:r>
              <a:rPr lang="en-GB" dirty="0"/>
              <a:t>)</a:t>
            </a:r>
          </a:p>
          <a:p>
            <a:r>
              <a:rPr lang="en-GB" dirty="0"/>
              <a:t>    &lt;input type="submit" value="OK" /&gt;</a:t>
            </a:r>
          </a:p>
          <a:p>
            <a:r>
              <a:rPr lang="en-GB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83458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09600" y="1828800"/>
            <a:ext cx="7924800" cy="685800"/>
          </a:xfrm>
        </p:spPr>
        <p:txBody>
          <a:bodyPr/>
          <a:lstStyle/>
          <a:p>
            <a:r>
              <a:rPr lang="en-US" dirty="0" smtClean="0"/>
              <a:t>ASP.NET WEB API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686800" y="6553200"/>
            <a:ext cx="457200" cy="2286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pic>
        <p:nvPicPr>
          <p:cNvPr id="2050" name="Picture 2" descr="C:\Users\pavel.kolev\Desktop\service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25562" y="3170651"/>
            <a:ext cx="3475038" cy="2315749"/>
          </a:xfrm>
          <a:prstGeom prst="rect">
            <a:avLst/>
          </a:prstGeom>
          <a:noFill/>
        </p:spPr>
      </p:pic>
      <p:pic>
        <p:nvPicPr>
          <p:cNvPr id="2051" name="Picture 3" descr="C:\Users\pavel.kolev\Desktop\services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19600" y="2743200"/>
            <a:ext cx="4191000" cy="31432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76381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ASP.NET Web </a:t>
            </a:r>
            <a:r>
              <a:rPr lang="en-US" dirty="0" err="1" smtClean="0"/>
              <a:t>Api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Introduced with ASP.NET MVC 4</a:t>
            </a:r>
          </a:p>
          <a:p>
            <a:r>
              <a:rPr lang="en-US" sz="2800" dirty="0" smtClean="0"/>
              <a:t>Alternative to WCF</a:t>
            </a:r>
          </a:p>
          <a:p>
            <a:r>
              <a:rPr lang="en-GB" sz="2800" dirty="0" smtClean="0"/>
              <a:t>Simple way to build and expose REST-based data services</a:t>
            </a:r>
          </a:p>
          <a:p>
            <a:r>
              <a:rPr lang="en-GB" sz="2800" dirty="0" smtClean="0"/>
              <a:t>ASP.NET Web API is very similar to ASP.NET MVC</a:t>
            </a:r>
          </a:p>
          <a:p>
            <a:r>
              <a:rPr lang="en-US" sz="2800" dirty="0" smtClean="0"/>
              <a:t>Using the MVC concepts to cater for different set of scenarios</a:t>
            </a:r>
          </a:p>
          <a:p>
            <a:r>
              <a:rPr lang="en-US" sz="2800" dirty="0" smtClean="0"/>
              <a:t>Can be hosted as part of our ASP.NET Project or as a separate project</a:t>
            </a:r>
          </a:p>
          <a:p>
            <a:endParaRPr lang="en-US" sz="2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409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Building a Data Service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686800" cy="5791200"/>
          </a:xfrm>
        </p:spPr>
        <p:txBody>
          <a:bodyPr/>
          <a:lstStyle/>
          <a:p>
            <a:r>
              <a:rPr lang="en-GB" dirty="0" smtClean="0"/>
              <a:t>Almost exactly like adding an ASP.NET MVC Controller</a:t>
            </a:r>
          </a:p>
          <a:p>
            <a:r>
              <a:rPr lang="en-US" dirty="0" smtClean="0"/>
              <a:t>Inherits </a:t>
            </a:r>
            <a:r>
              <a:rPr lang="en-US" dirty="0" err="1" smtClean="0"/>
              <a:t>ApiController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Performing CRUD operations</a:t>
            </a:r>
          </a:p>
          <a:p>
            <a:pPr lvl="1"/>
            <a:r>
              <a:rPr lang="en-GB" sz="2400" dirty="0" smtClean="0"/>
              <a:t>GET (Read) - Retrieves the representation of the resource.</a:t>
            </a:r>
          </a:p>
          <a:p>
            <a:pPr lvl="1"/>
            <a:r>
              <a:rPr lang="en-GB" sz="2400" dirty="0" smtClean="0"/>
              <a:t>PUT (Update) - Updates an existing resource (or creates a new instance)</a:t>
            </a:r>
          </a:p>
          <a:p>
            <a:pPr lvl="1"/>
            <a:r>
              <a:rPr lang="en-GB" sz="2400" dirty="0" smtClean="0"/>
              <a:t>POST (Create) - Creates a new instance of a resource</a:t>
            </a:r>
          </a:p>
          <a:p>
            <a:pPr lvl="1"/>
            <a:r>
              <a:rPr lang="en-GB" sz="2400" dirty="0" smtClean="0"/>
              <a:t>DELETE (Delete) - Deletes a resource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sp>
        <p:nvSpPr>
          <p:cNvPr id="5" name="Text Placeholder 6"/>
          <p:cNvSpPr txBox="1">
            <a:spLocks/>
          </p:cNvSpPr>
          <p:nvPr/>
        </p:nvSpPr>
        <p:spPr>
          <a:xfrm>
            <a:off x="304800" y="2667000"/>
            <a:ext cx="8610600" cy="40011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marL="0" indent="0" algn="l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000" b="1" kern="120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ea typeface="+mn-ea"/>
                <a:cs typeface="Consolas" pitchFamily="49" charset="0"/>
              </a:defRPr>
            </a:lvl1pPr>
            <a:lvl2pPr marL="63023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>
                  <a:lumMod val="60000"/>
                  <a:lumOff val="40000"/>
                </a:schemeClr>
              </a:buClr>
              <a:buFont typeface="Wingdings 2" pitchFamily="18" charset="2"/>
              <a:buChar char=""/>
              <a:defRPr sz="30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2233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>
                  <a:lumMod val="50000"/>
                </a:schemeClr>
              </a:buClr>
              <a:buFont typeface="Wingdings 2" pitchFamily="18" charset="2"/>
              <a:buChar char=""/>
              <a:defRPr sz="28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874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8BD52"/>
              </a:buClr>
              <a:buFont typeface="Wingdings 2" pitchFamily="18" charset="2"/>
              <a:buChar char=""/>
              <a:defRPr sz="26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6A6BD"/>
              </a:buClr>
              <a:buFont typeface="Wingdings 2" pitchFamily="18" charset="2"/>
              <a:buChar char=""/>
              <a:defRPr sz="24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1673352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11096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21408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22576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public class </a:t>
            </a:r>
            <a:r>
              <a:rPr smtClean="0"/>
              <a:t>Trainers</a:t>
            </a:r>
            <a:r>
              <a:rPr lang="en-GB" dirty="0" smtClean="0"/>
              <a:t>Controller : </a:t>
            </a:r>
            <a:r>
              <a:rPr lang="en-GB" dirty="0" err="1"/>
              <a:t>ApiController</a:t>
            </a: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802786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Overriding </a:t>
            </a:r>
            <a:r>
              <a:rPr lang="en-US" dirty="0" err="1" smtClean="0"/>
              <a:t>convensions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controller action naming convention only applies when the name corresponds to the standard REST actions</a:t>
            </a:r>
          </a:p>
          <a:p>
            <a:r>
              <a:rPr lang="en-US" dirty="0" smtClean="0"/>
              <a:t>Using Web API Attributes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sp>
        <p:nvSpPr>
          <p:cNvPr id="6" name="Text Placeholder 6"/>
          <p:cNvSpPr txBox="1">
            <a:spLocks/>
          </p:cNvSpPr>
          <p:nvPr/>
        </p:nvSpPr>
        <p:spPr>
          <a:xfrm>
            <a:off x="304800" y="3352800"/>
            <a:ext cx="8610600" cy="132343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>
            <a:lvl1pPr marL="0" indent="0" algn="l" rtl="0" eaLnBrk="0" fontAlgn="base" hangingPunct="0">
              <a:spcBef>
                <a:spcPts val="0"/>
              </a:spcBef>
              <a:spcAft>
                <a:spcPct val="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None/>
              <a:defRPr lang="en-US" sz="2000" b="1" kern="1200" smtClean="0">
                <a:solidFill>
                  <a:srgbClr val="8CF4F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ea typeface="+mn-ea"/>
                <a:cs typeface="Consolas" pitchFamily="49" charset="0"/>
              </a:defRPr>
            </a:lvl1pPr>
            <a:lvl2pPr marL="63023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>
                  <a:lumMod val="60000"/>
                  <a:lumOff val="40000"/>
                </a:schemeClr>
              </a:buClr>
              <a:buFont typeface="Wingdings 2" pitchFamily="18" charset="2"/>
              <a:buChar char=""/>
              <a:defRPr sz="30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22338" indent="-2730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>
                  <a:lumMod val="50000"/>
                </a:schemeClr>
              </a:buClr>
              <a:buFont typeface="Wingdings 2" pitchFamily="18" charset="2"/>
              <a:buChar char=""/>
              <a:defRPr sz="28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1874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8BD52"/>
              </a:buClr>
              <a:buFont typeface="Wingdings 2" pitchFamily="18" charset="2"/>
              <a:buChar char=""/>
              <a:defRPr sz="26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425575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6A6BD"/>
              </a:buClr>
              <a:buFont typeface="Wingdings 2" pitchFamily="18" charset="2"/>
              <a:buChar char=""/>
              <a:defRPr sz="2400" b="1" kern="1200">
                <a:solidFill>
                  <a:schemeClr val="tx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1673352" indent="-228600" algn="l" rtl="0" eaLnBrk="1" latinLnBrk="0" hangingPunct="1">
              <a:spcBef>
                <a:spcPct val="20000"/>
              </a:spcBef>
              <a:buClr>
                <a:schemeClr val="accent6"/>
              </a:buClr>
              <a:buFont typeface="Wingdings 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11096" indent="-22860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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21408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22576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 typeface="Wingdings 2"/>
              <a:buChar char="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[HttpGet</a:t>
            </a:r>
            <a:r>
              <a:rPr/>
              <a:t>] </a:t>
            </a:r>
            <a:endParaRPr smtClean="0"/>
          </a:p>
          <a:p>
            <a:r>
              <a:rPr smtClean="0"/>
              <a:t>public Trainers FindTrainer(int </a:t>
            </a:r>
            <a:r>
              <a:t>id</a:t>
            </a:r>
            <a:r>
              <a:rPr/>
              <a:t>) </a:t>
            </a:r>
            <a:endParaRPr smtClean="0"/>
          </a:p>
          <a:p>
            <a:r>
              <a:rPr smtClean="0"/>
              <a:t>{ </a:t>
            </a:r>
          </a:p>
          <a:p>
            <a:r>
              <a:rPr smtClean="0"/>
              <a:t>}</a:t>
            </a:r>
            <a:endParaRPr lang="en-GB" dirty="0" smtClean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48400" y="4191000"/>
            <a:ext cx="2286000" cy="227456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860814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Paging and Ordering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ASP.NET Web API Framework supports paging and filtering data via the Open Data (</a:t>
            </a:r>
            <a:r>
              <a:rPr lang="en-US" dirty="0" err="1" smtClean="0"/>
              <a:t>OData</a:t>
            </a:r>
            <a:r>
              <a:rPr lang="en-US" dirty="0" smtClean="0"/>
              <a:t>) Protocol</a:t>
            </a:r>
          </a:p>
          <a:p>
            <a:r>
              <a:rPr lang="en-US" dirty="0" smtClean="0"/>
              <a:t> /</a:t>
            </a:r>
            <a:r>
              <a:rPr lang="en-US" dirty="0" err="1" smtClean="0"/>
              <a:t>api</a:t>
            </a:r>
            <a:r>
              <a:rPr lang="en-US" dirty="0" smtClean="0"/>
              <a:t>/Trainers?$top=3&amp;$</a:t>
            </a:r>
            <a:r>
              <a:rPr lang="en-US" dirty="0" err="1" smtClean="0"/>
              <a:t>orderby</a:t>
            </a:r>
            <a:r>
              <a:rPr lang="en-US" dirty="0" smtClean="0"/>
              <a:t>=</a:t>
            </a:r>
            <a:r>
              <a:rPr lang="en-US" dirty="0" err="1" smtClean="0"/>
              <a:t>TrainersBlog</a:t>
            </a:r>
            <a:endParaRPr lang="en-US" sz="3600" dirty="0" smtClean="0"/>
          </a:p>
          <a:p>
            <a:pPr>
              <a:buNone/>
            </a:pPr>
            <a:r>
              <a:rPr lang="en-US" sz="2800" dirty="0" smtClean="0"/>
              <a:t>    Will return the top 5 trainers ordered by the value of their </a:t>
            </a:r>
            <a:r>
              <a:rPr lang="en-US" sz="2800" dirty="0" err="1" smtClean="0"/>
              <a:t>TrainersBlog</a:t>
            </a:r>
            <a:r>
              <a:rPr lang="en-US" sz="2800" dirty="0" smtClean="0"/>
              <a:t> property</a:t>
            </a:r>
          </a:p>
          <a:p>
            <a:r>
              <a:rPr lang="en-US" dirty="0" smtClean="0"/>
              <a:t>To support paging and filtering a Web API controller action must return </a:t>
            </a:r>
            <a:r>
              <a:rPr lang="en-US" dirty="0" err="1" smtClean="0"/>
              <a:t>anIQueryable</a:t>
            </a:r>
            <a:r>
              <a:rPr lang="en-US" dirty="0" smtClean="0"/>
              <a:t>&lt;T&gt; result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089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Paging and ordering table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990600"/>
          <a:ext cx="7696200" cy="5415280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2667000"/>
                <a:gridCol w="5029200"/>
              </a:tblGrid>
              <a:tr h="863600">
                <a:tc>
                  <a:txBody>
                    <a:bodyPr/>
                    <a:lstStyle/>
                    <a:p>
                      <a:r>
                        <a:rPr lang="en-US" sz="3200" b="1" i="0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Query string parameter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dirty="0" smtClean="0"/>
                        <a:t>Description</a:t>
                      </a:r>
                      <a:endParaRPr lang="en-US" dirty="0"/>
                    </a:p>
                  </a:txBody>
                  <a:tcPr/>
                </a:tc>
              </a:tr>
              <a:tr h="863600">
                <a:tc>
                  <a:txBody>
                    <a:bodyPr/>
                    <a:lstStyle/>
                    <a:p>
                      <a:r>
                        <a:rPr lang="en-US" sz="32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$filter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Filters entities that match the </a:t>
                      </a:r>
                      <a:r>
                        <a:rPr lang="en-US" sz="3200" b="0" i="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boolean</a:t>
                      </a:r>
                      <a:r>
                        <a:rPr lang="en-US" sz="32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expression</a:t>
                      </a:r>
                      <a:endParaRPr lang="en-US" sz="3200" dirty="0"/>
                    </a:p>
                  </a:txBody>
                  <a:tcPr/>
                </a:tc>
              </a:tr>
              <a:tr h="863600">
                <a:tc>
                  <a:txBody>
                    <a:bodyPr/>
                    <a:lstStyle/>
                    <a:p>
                      <a:r>
                        <a:rPr lang="en-US" sz="32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  <a:r>
                        <a:rPr lang="en-US" sz="3200" b="0" i="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orderby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Returns a group of entities ordered by the specified field</a:t>
                      </a:r>
                      <a:endParaRPr lang="en-US" sz="3200" dirty="0"/>
                    </a:p>
                  </a:txBody>
                  <a:tcPr/>
                </a:tc>
              </a:tr>
              <a:tr h="863600">
                <a:tc>
                  <a:txBody>
                    <a:bodyPr/>
                    <a:lstStyle/>
                    <a:p>
                      <a:r>
                        <a:rPr lang="en-US" sz="32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$skip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Skips the first (n) entities</a:t>
                      </a:r>
                      <a:endParaRPr lang="en-US" sz="3200" dirty="0"/>
                    </a:p>
                  </a:txBody>
                  <a:tcPr/>
                </a:tc>
              </a:tr>
              <a:tr h="863600">
                <a:tc>
                  <a:txBody>
                    <a:bodyPr/>
                    <a:lstStyle/>
                    <a:p>
                      <a:r>
                        <a:rPr lang="en-US" sz="32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$top</a:t>
                      </a:r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b="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Returns the first (n) entities</a:t>
                      </a:r>
                      <a:endParaRPr lang="en-US" sz="32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5457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24" name="Title 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C:\Users\paveldk\Desktop\no-service-hors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62200" y="2438400"/>
            <a:ext cx="4257675" cy="3831908"/>
          </a:xfrm>
          <a:prstGeom prst="rect">
            <a:avLst/>
          </a:prstGeom>
          <a:noFill/>
        </p:spPr>
      </p:pic>
      <p:sp>
        <p:nvSpPr>
          <p:cNvPr id="26" name="Title 4"/>
          <p:cNvSpPr txBox="1">
            <a:spLocks/>
          </p:cNvSpPr>
          <p:nvPr/>
        </p:nvSpPr>
        <p:spPr>
          <a:xfrm>
            <a:off x="228600" y="1447800"/>
            <a:ext cx="7924800" cy="685800"/>
          </a:xfrm>
          <a:prstGeom prst="rect">
            <a:avLst/>
          </a:prstGeom>
        </p:spPr>
        <p:txBody>
          <a:bodyPr anchor="ctr" anchorCtr="0">
            <a:noAutofit/>
          </a:bodyPr>
          <a:lstStyle/>
          <a:p>
            <a:pPr marL="0" marR="0" lvl="0" indent="0" algn="r" defTabSz="914400" rtl="0" eaLnBrk="0" fontAlgn="base" latinLnBrk="0" hangingPunct="0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1" i="0" u="none" strike="noStrike" kern="1200" cap="none" spc="0" normalizeH="0" baseline="0" noProof="0" dirty="0" smtClean="0">
                <a:ln w="500"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  <a:uLnTx/>
                <a:uFillTx/>
                <a:latin typeface="+mj-lt"/>
                <a:ea typeface="+mj-ea"/>
                <a:cs typeface="+mj-cs"/>
              </a:rPr>
              <a:t>DEMO:</a:t>
            </a:r>
            <a:r>
              <a:rPr kumimoji="0" lang="en-US" sz="5000" b="1" i="0" u="none" strike="noStrike" kern="1200" cap="none" spc="0" normalizeH="0" noProof="0" dirty="0" smtClean="0">
                <a:ln w="500"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sz="5000" b="1" i="0" u="none" strike="noStrike" kern="1200" cap="none" spc="0" normalizeH="0" baseline="0" noProof="0" dirty="0" smtClean="0">
                <a:ln w="500"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  <a:uLnTx/>
                <a:uFillTx/>
                <a:latin typeface="+mj-lt"/>
                <a:ea typeface="+mj-ea"/>
                <a:cs typeface="+mj-cs"/>
              </a:rPr>
              <a:t>ASP.NET WEB API</a:t>
            </a:r>
            <a:endParaRPr kumimoji="0" lang="en-US" sz="5000" b="1" i="0" u="none" strike="noStrike" kern="1200" cap="none" spc="0" normalizeH="0" baseline="0" noProof="0" dirty="0">
              <a:ln w="500"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12700" stA="20000" endPos="50000" dist="12700" dir="5400000" sy="-100000" algn="bl" rotWithShape="0"/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65260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4"/>
          <p:cNvSpPr txBox="1">
            <a:spLocks/>
          </p:cNvSpPr>
          <p:nvPr/>
        </p:nvSpPr>
        <p:spPr>
          <a:xfrm>
            <a:off x="-1371600" y="1447800"/>
            <a:ext cx="7924800" cy="685800"/>
          </a:xfrm>
          <a:prstGeom prst="rect">
            <a:avLst/>
          </a:prstGeom>
        </p:spPr>
        <p:txBody>
          <a:bodyPr anchor="ctr" anchorCtr="0">
            <a:noAutofit/>
          </a:bodyPr>
          <a:lstStyle/>
          <a:p>
            <a:pPr marL="0" marR="0" lvl="0" indent="0" algn="r" defTabSz="914400" rtl="0" eaLnBrk="0" fontAlgn="base" latinLnBrk="0" hangingPunct="0">
              <a:lnSpc>
                <a:spcPts val="4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1" i="0" u="none" strike="noStrike" kern="1200" cap="none" spc="0" normalizeH="0" baseline="0" noProof="0" dirty="0" smtClean="0">
                <a:ln w="500"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  <a:uLnTx/>
                <a:uFillTx/>
                <a:latin typeface="+mj-lt"/>
                <a:ea typeface="+mj-ea"/>
                <a:cs typeface="+mj-cs"/>
              </a:rPr>
              <a:t>ASP.NET</a:t>
            </a:r>
            <a:r>
              <a:rPr kumimoji="0" lang="en-US" sz="5000" b="1" i="0" u="none" strike="noStrike" kern="1200" cap="none" spc="0" normalizeH="0" noProof="0" dirty="0" smtClean="0">
                <a:ln w="500"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12700" stA="20000" endPos="50000" dist="12700" dir="5400000" sy="-100000" algn="bl" rotWithShape="0"/>
                </a:effectLst>
                <a:uLnTx/>
                <a:uFillTx/>
                <a:latin typeface="+mj-lt"/>
                <a:ea typeface="+mj-ea"/>
                <a:cs typeface="+mj-cs"/>
              </a:rPr>
              <a:t> SPA</a:t>
            </a:r>
            <a:endParaRPr kumimoji="0" lang="en-US" sz="5000" b="1" i="0" u="none" strike="noStrike" kern="1200" cap="none" spc="0" normalizeH="0" baseline="0" noProof="0" dirty="0">
              <a:ln w="500"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12700" stA="20000" endPos="50000" dist="12700" dir="5400000" sy="-100000" algn="bl" rotWithShape="0"/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050" name="Picture 2" descr="C:\Users\paveldk\Desktop\why-am-I-still-sing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2514600"/>
            <a:ext cx="4165600" cy="3124200"/>
          </a:xfrm>
          <a:prstGeom prst="rect">
            <a:avLst/>
          </a:prstGeom>
          <a:noFill/>
        </p:spPr>
      </p:pic>
      <p:pic>
        <p:nvPicPr>
          <p:cNvPr id="2051" name="Picture 3" descr="C:\Users\paveldk\Desktop\im_single_and_available_button-p145628203812414071en8go_400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81600" y="2514600"/>
            <a:ext cx="3130550" cy="31305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58900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Single Page Application (SPA)</a:t>
            </a:r>
          </a:p>
          <a:p>
            <a:r>
              <a:rPr lang="en-US" dirty="0" smtClean="0"/>
              <a:t>Maintain navigation</a:t>
            </a:r>
          </a:p>
          <a:p>
            <a:r>
              <a:rPr lang="en-US" dirty="0" smtClean="0"/>
              <a:t>Fits on single web page</a:t>
            </a:r>
          </a:p>
          <a:p>
            <a:r>
              <a:rPr lang="en-US" dirty="0" smtClean="0"/>
              <a:t>Persist important state on the client</a:t>
            </a:r>
          </a:p>
          <a:p>
            <a:r>
              <a:rPr lang="en-US" dirty="0" smtClean="0"/>
              <a:t>Fully loaded in the initial page load</a:t>
            </a:r>
          </a:p>
          <a:p>
            <a:r>
              <a:rPr lang="en-US" dirty="0" smtClean="0"/>
              <a:t>Download features only if </a:t>
            </a:r>
          </a:p>
          <a:p>
            <a:pPr>
              <a:buNone/>
            </a:pPr>
            <a:r>
              <a:rPr lang="en-US" dirty="0" smtClean="0"/>
              <a:t>	required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  <p:pic>
        <p:nvPicPr>
          <p:cNvPr id="3074" name="Picture 2" descr="C:\Users\paveldk\Desktop\anti_valentinesday12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4558212"/>
            <a:ext cx="2679700" cy="182512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78562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KnockoutJS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Simplify dynamic JavaScript </a:t>
            </a:r>
            <a:r>
              <a:rPr lang="en-US" dirty="0" err="1" smtClean="0"/>
              <a:t>Uis</a:t>
            </a:r>
            <a:r>
              <a:rPr lang="en-US" dirty="0" smtClean="0"/>
              <a:t> by applying the Model-View-</a:t>
            </a:r>
            <a:r>
              <a:rPr lang="en-US" dirty="0" err="1" smtClean="0"/>
              <a:t>ViewModel</a:t>
            </a:r>
            <a:r>
              <a:rPr lang="en-US" dirty="0" smtClean="0"/>
              <a:t>(MVVM) pattern</a:t>
            </a:r>
          </a:p>
          <a:p>
            <a:r>
              <a:rPr lang="en-US" dirty="0" smtClean="0"/>
              <a:t>Easily associate DOM elements with model data using a concise, readable syntax</a:t>
            </a:r>
          </a:p>
          <a:p>
            <a:r>
              <a:rPr lang="en-US" dirty="0" smtClean="0"/>
              <a:t>When your data model's state changes, your UI updates automatically</a:t>
            </a:r>
          </a:p>
          <a:p>
            <a:r>
              <a:rPr lang="en-US" dirty="0" smtClean="0"/>
              <a:t>Implicitly set up chains of relationships between model data, to transform and combine 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  <p:pic>
        <p:nvPicPr>
          <p:cNvPr id="4098" name="Picture 2" descr="C:\Users\paveldk\Desktop\knockoutjs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29200" y="5486400"/>
            <a:ext cx="3401163" cy="119538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78562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09600" y="1752600"/>
            <a:ext cx="7924800" cy="685800"/>
          </a:xfrm>
        </p:spPr>
        <p:txBody>
          <a:bodyPr/>
          <a:lstStyle/>
          <a:p>
            <a:r>
              <a:rPr lang="en-US" dirty="0" smtClean="0"/>
              <a:t>DEMO: ASP.NET SPA</a:t>
            </a:r>
            <a:br>
              <a:rPr lang="en-US" dirty="0" smtClean="0"/>
            </a:br>
            <a:r>
              <a:rPr lang="en-US" dirty="0" smtClean="0"/>
              <a:t> </a:t>
            </a:r>
            <a:r>
              <a:rPr lang="en-US" sz="3600" dirty="0" smtClean="0">
                <a:hlinkClick r:id="rId2"/>
              </a:rPr>
              <a:t>Code Camper</a:t>
            </a:r>
            <a:endParaRPr lang="en-US" dirty="0"/>
          </a:p>
        </p:txBody>
      </p:sp>
      <p:pic>
        <p:nvPicPr>
          <p:cNvPr id="5122" name="Picture 2" descr="C:\Users\paveldk\Desktop\spa-face-mask_large(1)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01925" y="3200400"/>
            <a:ext cx="3622675" cy="271700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57925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09600" y="1752600"/>
            <a:ext cx="7924800" cy="685800"/>
          </a:xfrm>
        </p:spPr>
        <p:txBody>
          <a:bodyPr/>
          <a:lstStyle/>
          <a:p>
            <a:r>
              <a:rPr lang="en-US" dirty="0" err="1" smtClean="0"/>
              <a:t>SignalR</a:t>
            </a:r>
            <a:endParaRPr lang="en-US" dirty="0"/>
          </a:p>
        </p:txBody>
      </p:sp>
      <p:pic>
        <p:nvPicPr>
          <p:cNvPr id="6146" name="Picture 2" descr="C:\Users\paveldk\Desktop\be398863814310a4644089aebc8cd4af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2895600"/>
            <a:ext cx="3124200" cy="3124200"/>
          </a:xfrm>
          <a:prstGeom prst="rect">
            <a:avLst/>
          </a:prstGeom>
          <a:noFill/>
        </p:spPr>
      </p:pic>
      <p:pic>
        <p:nvPicPr>
          <p:cNvPr id="6147" name="Picture 3" descr="C:\Users\paveldk\Desktop\image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43400" y="3200400"/>
            <a:ext cx="3751943" cy="2514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57925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SignalR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Simplifies the process of adding real-time web functionality </a:t>
            </a:r>
          </a:p>
          <a:p>
            <a:r>
              <a:rPr lang="en-US" dirty="0" err="1" smtClean="0"/>
              <a:t>SignalR</a:t>
            </a:r>
            <a:r>
              <a:rPr lang="en-US" dirty="0" smtClean="0"/>
              <a:t> uses </a:t>
            </a:r>
            <a:r>
              <a:rPr lang="en-US" dirty="0" err="1" smtClean="0"/>
              <a:t>Websockets</a:t>
            </a:r>
            <a:r>
              <a:rPr lang="en-US" dirty="0" smtClean="0"/>
              <a:t> when it is supported by the browser and the server</a:t>
            </a:r>
          </a:p>
          <a:p>
            <a:r>
              <a:rPr lang="en-US" dirty="0" err="1" smtClean="0"/>
              <a:t>SignalR</a:t>
            </a:r>
            <a:r>
              <a:rPr lang="en-US" dirty="0" smtClean="0"/>
              <a:t> provides a simple ASP.NET API for creating server-to-client remote procedure calls (RPC) </a:t>
            </a:r>
          </a:p>
          <a:p>
            <a:r>
              <a:rPr lang="en-US" dirty="0" err="1" smtClean="0"/>
              <a:t>SignalR</a:t>
            </a:r>
            <a:r>
              <a:rPr lang="en-US" dirty="0" smtClean="0"/>
              <a:t> also includes API for connection management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517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76200"/>
            <a:ext cx="7086600" cy="838200"/>
          </a:xfrm>
        </p:spPr>
        <p:txBody>
          <a:bodyPr/>
          <a:lstStyle/>
          <a:p>
            <a:r>
              <a:rPr lang="en-US" dirty="0"/>
              <a:t>ASP.NET </a:t>
            </a:r>
            <a:r>
              <a:rPr lang="en-US" dirty="0" smtClean="0"/>
              <a:t>MVC AJAX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473176" y="6400800"/>
            <a:ext cx="3552511" cy="369332"/>
          </a:xfrm>
        </p:spPr>
        <p:txBody>
          <a:bodyPr/>
          <a:lstStyle/>
          <a:p>
            <a:r>
              <a:rPr lang="en-US" dirty="0">
                <a:hlinkClick r:id="rId2"/>
              </a:rPr>
              <a:t>http</a:t>
            </a:r>
            <a:r>
              <a:rPr lang="en-US" dirty="0" smtClean="0">
                <a:hlinkClick r:id="rId2"/>
              </a:rPr>
              <a:t>://schoolacademy.telerik.com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3162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Homework(1)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Create a database for storing information about a Movies – Title, Director, Year, Leading Male Role, Leading Female Role and their age, Studio, Studio Address.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Using ASP.NET Web </a:t>
            </a:r>
            <a:r>
              <a:rPr lang="en-US" dirty="0" err="1" smtClean="0"/>
              <a:t>Api</a:t>
            </a:r>
            <a:r>
              <a:rPr lang="en-US" dirty="0" smtClean="0"/>
              <a:t> create a service that allows you to </a:t>
            </a:r>
            <a:r>
              <a:rPr lang="en-US" dirty="0" err="1" smtClean="0"/>
              <a:t>perfom</a:t>
            </a:r>
            <a:r>
              <a:rPr lang="en-US" dirty="0" smtClean="0"/>
              <a:t> a CRUD operations on your database tables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Using ASP.NET MVC create an application that consumes your services via Ajax.   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8452FF4-89E3-4D1B-9927-2DBDC00E58D7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517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Free Trainings @ Telerik Academy</a:t>
            </a:r>
            <a:endParaRPr lang="en-US" sz="36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28600" y="1066800"/>
            <a:ext cx="8686800" cy="5638800"/>
          </a:xfrm>
        </p:spPr>
        <p:txBody>
          <a:bodyPr/>
          <a:lstStyle/>
          <a:p>
            <a:r>
              <a:rPr lang="en-US" dirty="0" smtClean="0"/>
              <a:t>“C# Programming @ Telerik Academy</a:t>
            </a:r>
          </a:p>
          <a:p>
            <a:pPr marL="574675" lvl="2" indent="-282575"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noProof="1">
                <a:hlinkClick r:id="rId2"/>
              </a:rPr>
              <a:t>csharpfundamentals.telerik.com</a:t>
            </a:r>
            <a:endParaRPr lang="en-US" noProof="1"/>
          </a:p>
          <a:p>
            <a:pPr marL="282575" lvl="1" indent="-282575">
              <a:spcBef>
                <a:spcPts val="18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dirty="0" smtClean="0"/>
              <a:t>Telerik Software Academy</a:t>
            </a:r>
          </a:p>
          <a:p>
            <a:pPr marL="574675" lvl="2" indent="-282575"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noProof="1" smtClean="0">
                <a:hlinkClick r:id="rId3" tooltip="Telerik Software Academy - Free Programming Courses"/>
              </a:rPr>
              <a:t>academy.telerik.com</a:t>
            </a:r>
            <a:endParaRPr lang="en-US" noProof="1" smtClean="0"/>
          </a:p>
          <a:p>
            <a:pPr marL="282575" lvl="1" indent="-282575">
              <a:spcBef>
                <a:spcPts val="18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dirty="0" smtClean="0"/>
              <a:t>Telerik Academy @ Facebook</a:t>
            </a:r>
          </a:p>
          <a:p>
            <a:pPr marL="574675" lvl="2" indent="-282575"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noProof="1" smtClean="0">
                <a:hlinkClick r:id="rId4" tooltip="Telerik Softyware Academy @ Facebook"/>
              </a:rPr>
              <a:t>facebook.com/TelerikAcademy</a:t>
            </a:r>
            <a:endParaRPr lang="en-US" noProof="1" smtClean="0"/>
          </a:p>
          <a:p>
            <a:pPr marL="282575" lvl="1" indent="-282575">
              <a:spcBef>
                <a:spcPts val="1800"/>
              </a:spcBef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dirty="0" smtClean="0"/>
              <a:t>Telerik Software Academy Forums</a:t>
            </a:r>
          </a:p>
          <a:p>
            <a:pPr marL="574675" lvl="2" indent="-282575">
              <a:buClr>
                <a:schemeClr val="accent5">
                  <a:lumMod val="40000"/>
                  <a:lumOff val="60000"/>
                </a:schemeClr>
              </a:buClr>
              <a:buSzPct val="70000"/>
              <a:buFont typeface="Wingdings 2" pitchFamily="18" charset="2"/>
              <a:buChar char=""/>
              <a:tabLst>
                <a:tab pos="282575" algn="l"/>
              </a:tabLst>
            </a:pPr>
            <a:r>
              <a:rPr lang="en-US" noProof="1" smtClean="0">
                <a:hlinkClick r:id="rId5" tooltip="Telerik Software Academy Forums - Community for Programmers"/>
              </a:rPr>
              <a:t>forums.academy.telerik.com</a:t>
            </a:r>
            <a:endParaRPr lang="en-US" noProof="1"/>
          </a:p>
        </p:txBody>
      </p:sp>
      <p:pic>
        <p:nvPicPr>
          <p:cNvPr id="5" name="Picture 5">
            <a:hlinkClick r:id="rId5" tooltip="Telerik Software Academy Forums - Discussion Board for Developers"/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3898" y="5218092"/>
            <a:ext cx="1162902" cy="12686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>
            <a:hlinkClick r:id="rId3" tooltip="Telerik Software Academy"/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8941" y="2667000"/>
            <a:ext cx="3137859" cy="918234"/>
          </a:xfrm>
          <a:prstGeom prst="rect">
            <a:avLst/>
          </a:prstGeom>
          <a:noFill/>
          <a:ln>
            <a:solidFill>
              <a:srgbClr val="9BCC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7" name="Picture 13">
            <a:hlinkClick r:id="rId8" tooltip="Telerik Academy @ Facebook"/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8587" y="4003901"/>
            <a:ext cx="938213" cy="938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1">
            <a:hlinkClick r:id="rId2"/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2025" y="1123558"/>
            <a:ext cx="1124775" cy="112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5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1891dbb5ef1eec16f96b550c792a3c169f6d68"/>
</p:tagLst>
</file>

<file path=ppt/theme/theme1.xml><?xml version="1.0" encoding="utf-8"?>
<a:theme xmlns:a="http://schemas.openxmlformats.org/drawingml/2006/main" name="Telerik Academy">
  <a:themeElements>
    <a:clrScheme name="Telerik Colors Theme">
      <a:dk1>
        <a:sysClr val="windowText" lastClr="000000"/>
      </a:dk1>
      <a:lt1>
        <a:srgbClr val="CCFF66"/>
      </a:lt1>
      <a:dk2>
        <a:srgbClr val="30356E"/>
      </a:dk2>
      <a:lt2>
        <a:srgbClr val="CCFF33"/>
      </a:lt2>
      <a:accent1>
        <a:srgbClr val="CC4757"/>
      </a:accent1>
      <a:accent2>
        <a:srgbClr val="FF6F61"/>
      </a:accent2>
      <a:accent3>
        <a:srgbClr val="FF953E"/>
      </a:accent3>
      <a:accent4>
        <a:srgbClr val="F8BD52"/>
      </a:accent4>
      <a:accent5>
        <a:srgbClr val="46A6BD"/>
      </a:accent5>
      <a:accent6>
        <a:srgbClr val="5488BC"/>
      </a:accent6>
      <a:hlink>
        <a:srgbClr val="76B200"/>
      </a:hlink>
      <a:folHlink>
        <a:srgbClr val="FFCF3E"/>
      </a:folHlink>
    </a:clrScheme>
    <a:fontScheme name="Deluxe">
      <a:majorFont>
        <a:latin typeface="Corbel"/>
        <a:ea typeface=""/>
        <a:cs typeface=""/>
        <a:font script="Jpan" typeface="HGｺﾞｼｯｸM"/>
        <a:font script="Hang" typeface="HY엽서L"/>
        <a:font script="Hans" typeface="华文新魏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新魏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Deluxe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280000"/>
              </a:schemeClr>
            </a:gs>
            <a:gs pos="14000">
              <a:schemeClr val="phClr">
                <a:tint val="37000"/>
                <a:satMod val="250000"/>
              </a:schemeClr>
            </a:gs>
            <a:gs pos="45000">
              <a:schemeClr val="phClr">
                <a:tint val="53000"/>
                <a:satMod val="220000"/>
              </a:schemeClr>
            </a:gs>
            <a:gs pos="65000">
              <a:schemeClr val="phClr">
                <a:tint val="53000"/>
                <a:satMod val="220000"/>
              </a:schemeClr>
            </a:gs>
            <a:gs pos="86000">
              <a:schemeClr val="phClr">
                <a:tint val="42000"/>
                <a:satMod val="240000"/>
              </a:schemeClr>
            </a:gs>
            <a:gs pos="100000">
              <a:schemeClr val="phClr">
                <a:tint val="20000"/>
                <a:satMod val="23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0000">
              <a:schemeClr val="phClr">
                <a:satMod val="150000"/>
              </a:schemeClr>
            </a:gs>
            <a:gs pos="100000">
              <a:schemeClr val="phClr">
                <a:tint val="75000"/>
                <a:satMod val="20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atMod val="14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prstMaterial="powder">
            <a:bevelT w="152400"/>
            <a:contourClr>
              <a:schemeClr val="phClr"/>
            </a:contourClr>
          </a:sp3d>
        </a:effectStyle>
        <a:effectStyle>
          <a:effectLst>
            <a:reflection blurRad="12700" stA="26000" endPos="28000" dist="38100" dir="5400000" sy="-100000"/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prstMaterial="powder">
            <a:bevelT w="190500" h="1016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3000"/>
                <a:satMod val="1550000"/>
              </a:schemeClr>
            </a:gs>
            <a:gs pos="1000">
              <a:schemeClr val="phClr">
                <a:tint val="48000"/>
                <a:satMod val="1550000"/>
              </a:schemeClr>
            </a:gs>
            <a:gs pos="90000">
              <a:schemeClr val="phClr">
                <a:shade val="18000"/>
                <a:satMod val="275000"/>
              </a:schemeClr>
            </a:gs>
          </a:gsLst>
          <a:path path="circle">
            <a:fillToRect r="210000" b="300000"/>
          </a:path>
        </a:gradFill>
        <a:gradFill rotWithShape="1">
          <a:gsLst>
            <a:gs pos="5000">
              <a:schemeClr val="phClr">
                <a:tint val="38000"/>
                <a:satMod val="1800000"/>
              </a:schemeClr>
            </a:gs>
            <a:gs pos="5000">
              <a:schemeClr val="phClr">
                <a:tint val="40000"/>
                <a:satMod val="1800000"/>
              </a:schemeClr>
            </a:gs>
            <a:gs pos="90000">
              <a:schemeClr val="phClr">
                <a:shade val="18000"/>
                <a:satMod val="275000"/>
              </a:schemeClr>
            </a:gs>
          </a:gsLst>
          <a:path path="circle">
            <a:fillToRect l="20000" t="30000" r="135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Deluxe</Template>
  <TotalTime>6475</TotalTime>
  <Words>866</Words>
  <Application>Microsoft Office PowerPoint</Application>
  <PresentationFormat>On-screen Show (4:3)</PresentationFormat>
  <Paragraphs>209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Calibri</vt:lpstr>
      <vt:lpstr>Cambria</vt:lpstr>
      <vt:lpstr>Consolas</vt:lpstr>
      <vt:lpstr>Corbel</vt:lpstr>
      <vt:lpstr>Wingdings 2</vt:lpstr>
      <vt:lpstr>Telerik Academy</vt:lpstr>
      <vt:lpstr>ASP.NET MVC AJAX</vt:lpstr>
      <vt:lpstr>Table of Contents</vt:lpstr>
      <vt:lpstr>AJAX</vt:lpstr>
      <vt:lpstr>What is AJAX</vt:lpstr>
      <vt:lpstr>The XMLHttpRequest object</vt:lpstr>
      <vt:lpstr>AJAX Pitfalls</vt:lpstr>
      <vt:lpstr>AJAX Libraries</vt:lpstr>
      <vt:lpstr>Partial Rendering &amp;  JavaScript Rendering</vt:lpstr>
      <vt:lpstr>JavaScript Rendering Example</vt:lpstr>
      <vt:lpstr>ASP.NET MVC AJAX</vt:lpstr>
      <vt:lpstr>ASP.NET AJAX</vt:lpstr>
      <vt:lpstr>ASP.NET MVC AJAX PartialView</vt:lpstr>
      <vt:lpstr>ASP.NET MVC AJAX Rendering JSON Data</vt:lpstr>
      <vt:lpstr>ASP.NET MVC AJAX Requesting Data</vt:lpstr>
      <vt:lpstr>Demo: ASP.NET MVC AJAX</vt:lpstr>
      <vt:lpstr>Reusable ASP.NET AJAX</vt:lpstr>
      <vt:lpstr>Reusable ASP.NET AJAX</vt:lpstr>
      <vt:lpstr>MVC AJAX POST</vt:lpstr>
      <vt:lpstr>ASP.NET WEB API</vt:lpstr>
      <vt:lpstr>ASP.NET Web Api</vt:lpstr>
      <vt:lpstr>Building a Data Service</vt:lpstr>
      <vt:lpstr>Overriding convensions</vt:lpstr>
      <vt:lpstr>Paging and Ordering</vt:lpstr>
      <vt:lpstr>Paging and ordering table</vt:lpstr>
      <vt:lpstr>PowerPoint Presentation</vt:lpstr>
      <vt:lpstr>PowerPoint Presentation</vt:lpstr>
      <vt:lpstr>SPA</vt:lpstr>
      <vt:lpstr>KnockoutJS</vt:lpstr>
      <vt:lpstr>DEMO: ASP.NET SPA  Code Camper</vt:lpstr>
      <vt:lpstr>SignalR</vt:lpstr>
      <vt:lpstr>SignalR</vt:lpstr>
      <vt:lpstr>ASP.NET MVC AJAX</vt:lpstr>
      <vt:lpstr>Homework(1)</vt:lpstr>
      <vt:lpstr>Free Trainings @ Telerik Academy</vt:lpstr>
    </vt:vector>
  </TitlesOfParts>
  <Company>Telerik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Telerik Software Academy</dc:title>
  <dc:subject>Telerik Software Academy</dc:subject>
  <dc:creator>Nikolay.IT</dc:creator>
  <cp:keywords>telerik software academy, free courses for developers</cp:keywords>
  <cp:lastModifiedBy>Nikolay Kostov</cp:lastModifiedBy>
  <cp:revision>680</cp:revision>
  <dcterms:created xsi:type="dcterms:W3CDTF">2007-12-08T16:03:35Z</dcterms:created>
  <dcterms:modified xsi:type="dcterms:W3CDTF">2013-09-21T14:07:52Z</dcterms:modified>
  <cp:category>software engineering</cp:category>
</cp:coreProperties>
</file>